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2"/>
  </p:notesMasterIdLst>
  <p:handoutMasterIdLst>
    <p:handoutMasterId r:id="rId13"/>
  </p:handoutMasterIdLst>
  <p:sldIdLst>
    <p:sldId id="256" r:id="rId3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83" r:id="rId25"/>
    <p:sldId id="284" r:id="rId26"/>
    <p:sldId id="285" r:id="rId27"/>
    <p:sldId id="286" r:id="rId28"/>
    <p:sldId id="287" r:id="rId29"/>
    <p:sldId id="288" r:id="rId30"/>
    <p:sldId id="289" r:id="rId31"/>
    <p:sldId id="290" r:id="rId32"/>
    <p:sldId id="291" r:id="rId33"/>
    <p:sldId id="292" r:id="rId34"/>
    <p:sldId id="27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1B6D"/>
    <a:srgbClr val="1C57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3" d="100"/>
          <a:sy n="83" d="100"/>
        </p:scale>
        <p:origin x="3284" y="76"/>
      </p:cViewPr>
      <p:guideLst/>
    </p:cSldViewPr>
  </p:notes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2.xml"/><Relationship Id="rId10" Type="http://schemas.openxmlformats.org/officeDocument/2006/relationships/slide" Target="slides/slide9.xml"/><Relationship Id="rId12" Type="http://schemas.openxmlformats.org/officeDocument/2006/relationships/notesMaster" Target="notesMasters/notesMaster1.xml"/><Relationship Id="rId13" Type="http://schemas.openxmlformats.org/officeDocument/2006/relationships/handoutMaster" Target="handoutMasters/handout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Хариулах боломжтой</c:v>
                </c:pt>
              </c:strCache>
            </c:strRef>
          </c:tx>
          <c:spPr>
            <a:solidFill>
              <a:srgbClr val="201B6D"/>
            </a:solidFill>
          </c:spPr>
          <c:cat>
            <c:strRef>
              <c:f>Sheet1!$A$2:$A$3</c:f>
              <c:strCache>
                <c:ptCount val="2"/>
                <c:pt idx="0">
                  <c:v>Хөгжүүлэлт (dev)</c:v>
                </c:pt>
                <c:pt idx="1">
                  <c:v>Шинэ асуулт (test)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224</c:v>
                </c:pt>
                <c:pt idx="1">
                  <c:v>151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Боломжгүй</c:v>
                </c:pt>
              </c:strCache>
            </c:strRef>
          </c:tx>
          <c:spPr>
            <a:solidFill>
              <a:srgbClr val="B42318"/>
            </a:solidFill>
          </c:spPr>
          <c:cat>
            <c:strRef>
              <c:f>Sheet1!$A$2:$A$3</c:f>
              <c:strCache>
                <c:ptCount val="2"/>
                <c:pt idx="0">
                  <c:v>Хөгжүүлэлт (dev)</c:v>
                </c:pt>
                <c:pt idx="1">
                  <c:v>Шинэ асуулт (test)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38</c:v>
                </c:pt>
                <c:pt idx="1">
                  <c:v>24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Хоёрдмол</c:v>
                </c:pt>
              </c:strCache>
            </c:strRef>
          </c:tx>
          <c:spPr>
            <a:solidFill>
              <a:srgbClr val="A86A00"/>
            </a:solidFill>
          </c:spPr>
          <c:cat>
            <c:strRef>
              <c:f>Sheet1!$A$2:$A$3</c:f>
              <c:strCache>
                <c:ptCount val="2"/>
                <c:pt idx="0">
                  <c:v>Хөгжүүлэлт (dev)</c:v>
                </c:pt>
                <c:pt idx="1">
                  <c:v>Шинэ асуулт (test)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38</c:v>
                </c:pt>
                <c:pt idx="1">
                  <c:v>25</c:v>
                </c:pt>
              </c:numCache>
            </c:numRef>
          </c:val>
        </c:ser>
        <c:dLbls>
          <c:txPr>
            <a:bodyPr/>
            <a:lstStyle/>
            <a:p>
              <a:pPr>
                <a:defRPr sz="2000" b="1">
                  <a:solidFill>
                    <a:srgbClr val="FFFFFF"/>
                  </a:solidFill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2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2000"/>
          </a:pPr>
        </a:p>
      </c:txPr>
    </c:legend>
    <c:dispBlanksAs val="gap"/>
  </c:chart>
  <c:txPr>
    <a:bodyPr/>
    <a:lstStyle/>
    <a:p>
      <a:pPr>
        <a:defRPr sz="2000">
          <a:solidFill>
            <a:srgbClr val="1F232B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dPt>
            <c:idx val="0"/>
            <c:spPr>
              <a:solidFill>
                <a:srgbClr val="B8BCC6"/>
              </a:solidFill>
            </c:spPr>
          </c:dPt>
          <c:dPt>
            <c:idx val="1"/>
            <c:spPr>
              <a:solidFill>
                <a:srgbClr val="201B6D"/>
              </a:solidFill>
            </c:spPr>
          </c:dPt>
          <c:dPt>
            <c:idx val="2"/>
            <c:spPr>
              <a:solidFill>
                <a:srgbClr val="201B6D"/>
              </a:solidFill>
            </c:spPr>
          </c:dPt>
          <c:dPt>
            <c:idx val="3"/>
            <c:spPr>
              <a:solidFill>
                <a:srgbClr val="B8BCC6"/>
              </a:solidFill>
            </c:spPr>
          </c:dPt>
          <c:dPt>
            <c:idx val="4"/>
            <c:spPr>
              <a:solidFill>
                <a:srgbClr val="B8BCC6"/>
              </a:solidFill>
            </c:spPr>
          </c:dPt>
          <c:dPt>
            <c:idx val="5"/>
            <c:spPr>
              <a:solidFill>
                <a:srgbClr val="F2B100"/>
              </a:solidFill>
            </c:spPr>
          </c:dPt>
          <c:cat>
            <c:strRef>
              <c:f>Sheet1!$A$2:$A$7</c:f>
              <c:strCache>
                <c:ptCount val="6"/>
                <c:pt idx="0">
                  <c:v>Суурь</c:v>
                </c:pt>
                <c:pt idx="1">
                  <c:v>Мэдлэг
хайлт</c:v>
                </c:pt>
                <c:pt idx="2">
                  <c:v>Орчуулга</c:v>
                </c:pt>
                <c:pt idx="3">
                  <c:v>Засвар</c:v>
                </c:pt>
                <c:pt idx="4">
                  <c:v>8 хувилбар</c:v>
                </c:pt>
                <c:pt idx="5">
                  <c:v>Дүрэм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2.3</c:v>
                </c:pt>
                <c:pt idx="1">
                  <c:v>14.3</c:v>
                </c:pt>
                <c:pt idx="2">
                  <c:v>27.0</c:v>
                </c:pt>
                <c:pt idx="3">
                  <c:v>36.7</c:v>
                </c:pt>
                <c:pt idx="4">
                  <c:v>41.0</c:v>
                </c:pt>
                <c:pt idx="5">
                  <c:v>53.0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2400" b="1">
                  <a:solidFill>
                    <a:srgbClr val="1F232B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8BCC6"/>
            </a:solidFill>
          </a:ln>
        </c:spPr>
        <c:txPr>
          <a:bodyPr/>
          <a:lstStyle/>
          <a:p>
            <a:pPr>
              <a:defRPr sz="2000">
                <a:solidFill>
                  <a:srgbClr val="1F232B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62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2000">
          <a:solidFill>
            <a:srgbClr val="1F232B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dPt>
            <c:idx val="0"/>
            <c:spPr>
              <a:solidFill>
                <a:srgbClr val="B8BCC6"/>
              </a:solidFill>
            </c:spPr>
          </c:dPt>
          <c:dPt>
            <c:idx val="1"/>
            <c:spPr>
              <a:solidFill>
                <a:srgbClr val="201B6D"/>
              </a:solidFill>
            </c:spPr>
          </c:dPt>
          <c:dPt>
            <c:idx val="2"/>
            <c:spPr>
              <a:solidFill>
                <a:srgbClr val="B8BCC6"/>
              </a:solidFill>
            </c:spPr>
          </c:dPt>
          <c:dPt>
            <c:idx val="3"/>
            <c:spPr>
              <a:solidFill>
                <a:srgbClr val="B8BCC6"/>
              </a:solidFill>
            </c:spPr>
          </c:dPt>
          <c:dPt>
            <c:idx val="4"/>
            <c:spPr>
              <a:solidFill>
                <a:srgbClr val="F2B100"/>
              </a:solidFill>
            </c:spPr>
          </c:dPt>
          <c:cat>
            <c:strRef>
              <c:f>Sheet1!$A$2:$A$6</c:f>
              <c:strCache>
                <c:ptCount val="5"/>
                <c:pt idx="0">
                  <c:v>Сургасан
загвар</c:v>
                </c:pt>
                <c:pt idx="1">
                  <c:v>+ Орчуулга</c:v>
                </c:pt>
                <c:pt idx="2">
                  <c:v>+ 8 хувилбар</c:v>
                </c:pt>
                <c:pt idx="3">
                  <c:v>+ Дүрэм</c:v>
                </c:pt>
                <c:pt idx="4">
                  <c:v>+ Тодруулга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21.0</c:v>
                </c:pt>
                <c:pt idx="1">
                  <c:v>34.0</c:v>
                </c:pt>
                <c:pt idx="2">
                  <c:v>38.5</c:v>
                </c:pt>
                <c:pt idx="3">
                  <c:v>45.0</c:v>
                </c:pt>
                <c:pt idx="4">
                  <c:v>46.5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2400" b="1">
                  <a:solidFill>
                    <a:srgbClr val="1F232B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8BCC6"/>
            </a:solidFill>
          </a:ln>
        </c:spPr>
        <c:txPr>
          <a:bodyPr/>
          <a:lstStyle/>
          <a:p>
            <a:pPr>
              <a:defRPr sz="2000">
                <a:solidFill>
                  <a:srgbClr val="1F232B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5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2000">
          <a:solidFill>
            <a:srgbClr val="1F232B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dPt>
            <c:idx val="0"/>
            <c:spPr>
              <a:solidFill>
                <a:srgbClr val="B42318"/>
              </a:solidFill>
            </c:spPr>
          </c:dPt>
          <c:dPt>
            <c:idx val="1"/>
            <c:spPr>
              <a:solidFill>
                <a:srgbClr val="B8BCC6"/>
              </a:solidFill>
            </c:spPr>
          </c:dPt>
          <c:cat>
            <c:strRef>
              <c:f>Sheet1!$A$2:$A$3</c:f>
              <c:strCache>
                <c:ptCount val="2"/>
                <c:pt idx="0">
                  <c:v>Орчуулга</c:v>
                </c:pt>
                <c:pt idx="1">
                  <c:v>Бусад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38</c:v>
                </c:pt>
                <c:pt idx="1">
                  <c:v>62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2400" b="1">
                  <a:solidFill>
                    <a:srgbClr val="FFFFFF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  <c:txPr>
        <a:bodyPr/>
        <a:lstStyle/>
        <a:p>
          <a:pPr>
            <a:defRPr sz="2000"/>
          </a:pPr>
        </a:p>
      </c:txPr>
    </c:legend>
    <c:plotVisOnly val="1"/>
    <c:dispBlanksAs val="gap"/>
    <c:showDLblsOverMax val="0"/>
  </c:chart>
  <c:txPr>
    <a:bodyPr/>
    <a:lstStyle/>
    <a:p>
      <a:pPr>
        <a:defRPr sz="2000">
          <a:solidFill>
            <a:srgbClr val="1F232B"/>
          </a:solidFill>
          <a:latin typeface="Arial"/>
        </a:defRPr>
      </a:pPr>
      <a:endParaRPr/>
    </a:p>
  </c:txPr>
  <c:externalData r:id="rId1">
    <c:autoUpdate val="0"/>
  </c:externalData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1528F78-EFDF-4B3B-FF25-D49BBC97CBC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C8CB38-A944-2AEF-70E9-835FABEBC35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7F3278-E6F6-4266-A773-E2AB3F66333A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20CF29-6711-8AAE-6612-CB7EA1D3E13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1C82F1-A546-FDE6-1FC2-D83CE2AB975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09C798-167D-4EBD-AD73-45CAEF38CF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1238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15FAF5-31C1-4154-9AF4-A71C4E525F0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487819-34DC-454A-AD6F-42E011B900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887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8E061-689D-4DE4-A721-0A0EFB3928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73193" y="1182935"/>
            <a:ext cx="10590040" cy="2008839"/>
          </a:xfrm>
          <a:noFill/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7711D1-76B1-4D23-8233-CD66737636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73192" y="3329796"/>
            <a:ext cx="10590040" cy="2743200"/>
          </a:xfrm>
        </p:spPr>
        <p:txBody>
          <a:bodyPr/>
          <a:lstStyle>
            <a:lvl1pPr marL="0" indent="0" algn="ctr">
              <a:buNone/>
              <a:defRPr sz="2400" b="0">
                <a:solidFill>
                  <a:srgbClr val="201B6D"/>
                </a:solidFill>
                <a:latin typeface="Arial" panose="000005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8B170-9DC9-42FE-B45B-75B122353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1EA36-C24A-4D12-9C4F-A559A73325B8}" type="datetime1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1E466E-4F32-4677-BEB9-BA01C8518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Төгсөлтийн ажлын нэр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F27638-4E78-408A-B7ED-370413E55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FE9AF-92D8-4B74-B37C-7FC29F92965E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E7E3805-43B8-2640-7D9B-130E092BDE2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225" y="0"/>
            <a:ext cx="5181385" cy="931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745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D663E-4531-4DCF-A433-2857AB2F3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0664" y="217711"/>
            <a:ext cx="10762569" cy="81088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066CFD-70B8-42FA-BFAE-86217C8167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77B9C1-5179-454E-9827-40E897EEB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B7510-B4B2-405B-B3A2-5AC67E743C62}" type="datetime1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DCABD5-97B3-4468-A20F-BDCD875EF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Төгсөлтийн ажлын нэр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6C3E2A-05D7-4208-9AA4-5A3E7CE6D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FE9AF-92D8-4B74-B37C-7FC29F929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5057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3612B-DB82-4E05-BEB4-87DDCED1A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8664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F9AB9-789A-4A8E-BCA7-1505E89B0B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28664" y="4589464"/>
            <a:ext cx="10515600" cy="826322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Arial" panose="00000500000000000000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187B3F-0100-4FE0-8289-FA17C546A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469CA-770B-4688-9233-73B04A8EB253}" type="datetime1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CC17D0-4976-4EC0-8FF7-CBE76A9BE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Төгсөлтийн ажлын нэр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4018B-6486-4331-A81A-01115E05A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FE9AF-92D8-4B74-B37C-7FC29F92965E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256B2B1-98BA-44E2-B995-0E9F6816F7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889" y="194845"/>
            <a:ext cx="4024822" cy="715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9437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5883B-B2D6-4430-B1DB-60247074A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0664" y="217711"/>
            <a:ext cx="10551541" cy="81088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7A0DDB-A92C-4115-87F9-8FE2F7A446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36605" y="1492370"/>
            <a:ext cx="5181600" cy="46845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97835D-2BEA-44AD-A1E0-EFF382A9D2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70605" y="1492370"/>
            <a:ext cx="5181600" cy="46845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623760-251F-40DC-91ED-F48712C01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3D08A-3518-43A8-A5B1-C4FBFCCEE317}" type="datetime1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F6BD98-3E1A-45F8-BA7B-AEFB53BB2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Төгсөлтийн ажлын нэр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933D16-5118-41A3-A125-A35B76753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FE9AF-92D8-4B74-B37C-7FC29F929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358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43DB9-7FF1-4623-9990-C887A9D5E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7531" y="168145"/>
            <a:ext cx="10805701" cy="82391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A2382E-AAF9-4613-B8C2-B056F14B6A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57532" y="1207697"/>
            <a:ext cx="5382884" cy="76253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CE0BE1-4EF7-4204-9500-6208D2AA32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57532" y="2244701"/>
            <a:ext cx="5382884" cy="34101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C3A4BD-0750-476E-B5AB-C7393DE5D8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9886" y="1193858"/>
            <a:ext cx="5382885" cy="76253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2CFBA5-5EDB-4B0C-B559-63D04A124A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09886" y="2237908"/>
            <a:ext cx="5382884" cy="34101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A849674-29A1-402B-AD4F-56A84D177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6DA71-60C1-460E-AD54-09ECFAF69B66}" type="datetime1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BA5C3F-9FD0-4B19-A8BA-F211101E2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Төгсөлтийн ажлын нэр</a:t>
            </a: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B6549ED-045F-4738-AAE3-CFF4040E9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FE9AF-92D8-4B74-B37C-7FC29F929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4308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C5657-D2A5-4155-822C-FC69BEB46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CE06EA-4711-46B2-8E57-41248E434C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05C9B-4277-45EE-B0DE-00371EDAD8E4}" type="datetime1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A7E78F-5F95-4B15-A408-BB0A61721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Төгсөлтийн ажлын нэр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FF6524-E363-4AC5-B435-8D26A9C47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FE9AF-92D8-4B74-B37C-7FC29F929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3539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6A4BC9-F615-40C6-8D07-977BF13D8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F6B22-A787-4EA4-A026-692A76260CDF}" type="datetime1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38C9A5-FCD5-47F0-9AF2-ECA0C42D5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Төгсөлтийн ажлын нэр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7EC849-98B0-4295-9117-AAC19E86C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FE9AF-92D8-4B74-B37C-7FC29F929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7479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27671-3DC2-4665-83A2-5A077653C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9292" y="168146"/>
            <a:ext cx="10753941" cy="77389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4698F-C58F-4C0F-BDB0-F134E9AD56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1123" y="1405719"/>
            <a:ext cx="8242110" cy="445533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A7E79C-7491-4457-BAA2-B9EB7F29BA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9292" y="1518443"/>
            <a:ext cx="226844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DA5384-2B8F-491E-BACA-82F739944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863A3-C3E9-4752-BFD2-85ACFF48769E}" type="datetime1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777FEF-96DC-4CA3-944C-C2A23A431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Төгсөлтийн ажлын нэр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B35862-7D38-4204-890D-44B25D633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FE9AF-92D8-4B74-B37C-7FC29F929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4842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02AC3-0865-48A9-ACB1-249C0AD01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786" y="168145"/>
            <a:ext cx="10885118" cy="7462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24307E-6170-4BA1-85BF-241341BBA9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277737" y="1405719"/>
            <a:ext cx="8582167" cy="464023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D2846D-E8D3-4050-9D9E-DC945D18D5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74786" y="1523206"/>
            <a:ext cx="1997701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E97E07-FD47-4344-B7EB-9C34067C7B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98D0E-E944-4F40-BBA4-9B000E6CC9D0}" type="datetime1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39B8C1-2E66-4FDA-9A10-E4C8214CB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Төгсөлтийн ажлын нэр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05E865-6C29-4DB7-8801-0A0C02A22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FE9AF-92D8-4B74-B37C-7FC29F929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8113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7B7D5-84B5-4C15-B53C-F63B2DB57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23BFC2-D3D4-4F2E-A769-3F2DFBFF98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5C6B98-0597-440E-A400-41FFF385D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BB9D4-CA6B-4776-A618-830177E4D0EC}" type="datetime1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24641B-66B8-4D9B-AE27-C817C03DF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Төгсөлтийн ажлын нэр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8D1240-8D27-4076-9DA2-0DC74F027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FE9AF-92D8-4B74-B37C-7FC29F929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2096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163A71-8B1F-4DFF-A1CC-1B556824C0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CD2731-C12F-4D69-8269-9C469168A7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948906" y="365125"/>
            <a:ext cx="7623594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6E512B-E5D2-49B9-93C6-F6B981198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A26CC-2984-435A-B5C7-2F594FD9EF59}" type="datetime1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8EDF1-C683-4D3A-BFC5-373E404F0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Төгсөлтийн ажлын нэр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3FC52B-8EA3-48EB-ADD5-2453F5754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FE9AF-92D8-4B74-B37C-7FC29F929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82962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3D20FD-5424-4B25-A6AD-2DD5C8B65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0664" y="217711"/>
            <a:ext cx="10762569" cy="810883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D0CC8F-5BE7-4224-906D-2BED4A2AED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0664" y="1433015"/>
            <a:ext cx="10763706" cy="47439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2EDD7E-F46C-4EBF-9106-3E1DAB2AEB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28767" y="632473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F3B5D6-FE94-4118-BB42-D4B44E46D84D}" type="datetime1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0786F0-F302-4799-B828-5E98900B59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7737" y="6324729"/>
            <a:ext cx="56365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ru-RU"/>
              <a:t>Төгсөлтийн ажлын нэр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28B680-539F-4608-AB74-AC6F60C950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20033" y="632473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EFE9AF-92D8-4B74-B37C-7FC29F92965E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1A52752-A018-4328-916B-B18BF20EF502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30" t="11149" r="24649" b="11269"/>
          <a:stretch/>
        </p:blipFill>
        <p:spPr>
          <a:xfrm>
            <a:off x="336431" y="168146"/>
            <a:ext cx="491705" cy="77033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760CA56-08C0-3310-5E87-B9447C2C4659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31" y="1134879"/>
            <a:ext cx="924447" cy="5282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817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rgbClr val="201B6D"/>
          </a:solidFill>
          <a:latin typeface="Arial" panose="00000500000000000000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B4C2A-29DD-AE06-59A2-AAE36ECE13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73193" y="1033964"/>
            <a:ext cx="10590040" cy="2008839"/>
          </a:xfrm>
        </p:spPr>
        <p:txBody>
          <a:bodyPr>
            <a:normAutofit/>
          </a:bodyPr>
          <a:lstStyle/>
          <a:p>
            <a:r>
              <a:rPr sz="3600">
                <a:latin typeface="Arial"/>
              </a:rPr>
              <a:t>Том хэлний загварт (LLM) суурилсан</a:t>
            </a:r>
            <a:br/>
            <a:r>
              <a:rPr sz="3600">
                <a:latin typeface="Arial"/>
              </a:rPr>
              <a:t>Text-to-SQL агентыг хөгжүүлэх нь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3847BA-429C-8D1F-5F75-989B78542F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73193" y="3274070"/>
            <a:ext cx="10590040" cy="2743200"/>
          </a:xfrm>
        </p:spPr>
        <p:txBody>
          <a:bodyPr>
            <a:normAutofit fontScale="92500" lnSpcReduction="10000"/>
          </a:bodyPr>
          <a:lstStyle/>
          <a:p>
            <a:r>
              <a:rPr lang="mn-MN" sz="2000" dirty="0">
                <a:solidFill>
                  <a:schemeClr val="tx1"/>
                </a:solidFill>
                <a:latin typeface="Arial"/>
              </a:rPr>
              <a:t>Бакалавр төгсөлтийн ажил</a:t>
            </a:r>
            <a:r>
              <a:rPr lang="mn-MN" dirty="0" sz="2000">
                <a:solidFill>
                  <a:schemeClr val="tx1"/>
                </a:solidFill>
                <a:latin typeface="Arial"/>
              </a:rPr>
              <a:t> </a:t>
            </a:r>
          </a:p>
          <a:p>
            <a:endParaRPr lang="mn-MN" dirty="0" sz="2000">
              <a:solidFill>
                <a:schemeClr val="tx1"/>
              </a:solidFill>
              <a:latin typeface="Arial"/>
            </a:endParaRPr>
          </a:p>
          <a:p>
            <a:endParaRPr lang="mn-MN" dirty="0" sz="2000">
              <a:solidFill>
                <a:schemeClr val="tx1"/>
              </a:solidFill>
              <a:latin typeface="Arial"/>
            </a:endParaRPr>
          </a:p>
          <a:p>
            <a:pPr algn="l"/>
            <a:r>
              <a:rPr lang="mn-MN" sz="2000" dirty="0">
                <a:solidFill>
                  <a:schemeClr val="tx1"/>
                </a:solidFill>
                <a:latin typeface="Arial"/>
              </a:rPr>
              <a:t>Илтгэгч: Батчулуун Очир (B221960026)</a:t>
            </a:r>
          </a:p>
          <a:p>
            <a:pPr algn="l"/>
            <a:r>
              <a:rPr lang="mn-MN" sz="2000" dirty="0">
                <a:solidFill>
                  <a:schemeClr val="tx1"/>
                </a:solidFill>
                <a:latin typeface="Arial"/>
              </a:rPr>
              <a:t>Хөтөлбөр: Хиймэл оюун / Компьютерын ухаан</a:t>
            </a:r>
          </a:p>
          <a:p>
            <a:pPr algn="l"/>
            <a:r>
              <a:rPr lang="mn-MN" sz="2000" dirty="0">
                <a:solidFill>
                  <a:schemeClr val="tx1"/>
                </a:solidFill>
                <a:latin typeface="Arial"/>
              </a:rPr>
              <a:t>Удирдагч: Доктор (Ph.D) Д.Золзаяа</a:t>
            </a:r>
          </a:p>
          <a:p>
            <a:pPr algn="l"/>
            <a:r>
              <a:rPr lang="mn-MN" sz="2000" dirty="0">
                <a:solidFill>
                  <a:schemeClr val="tx1"/>
                </a:solidFill>
                <a:latin typeface="Arial"/>
              </a:rPr>
              <a:t>Зөвлөх: Б.Батзолбоо</a:t>
            </a:r>
            <a:r>
              <a:rPr lang="en-US" sz="2000" dirty="0">
                <a:solidFill>
                  <a:schemeClr val="tx1"/>
                </a:solidFill>
                <a:latin typeface="Arial"/>
              </a:rPr>
              <a:t/>
            </a:r>
            <a:r>
              <a:rPr lang="mn-MN" sz="2000" dirty="0">
                <a:solidFill>
                  <a:schemeClr val="tx1"/>
                </a:solidFill>
                <a:latin typeface="Arial"/>
              </a:rPr>
              <a:t/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B94FF100-F73D-387F-FD12-FBE77FE5443B}"/>
              </a:ext>
            </a:extLst>
          </p:cNvPr>
          <p:cNvSpPr txBox="1">
            <a:spLocks/>
          </p:cNvSpPr>
          <p:nvPr/>
        </p:nvSpPr>
        <p:spPr>
          <a:xfrm>
            <a:off x="4332588" y="6346454"/>
            <a:ext cx="3526823" cy="3560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kern="1200">
                <a:solidFill>
                  <a:srgbClr val="201B6D"/>
                </a:solidFill>
                <a:latin typeface="Arial" panose="00000500000000000000" pitchFamily="2" charset="0"/>
                <a:ea typeface="+mn-ea"/>
                <a:cs typeface="Arial" panose="020B060402020202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mn-MN" sz="2000" b="1" dirty="0">
                <a:solidFill>
                  <a:schemeClr val="tx1"/>
                </a:solidFill>
                <a:latin typeface="Arial"/>
              </a:rPr>
              <a:t>Улаанбаатар хот 2026 он</a:t>
            </a:r>
            <a:endParaRPr lang="en-US" sz="2000" b="1" dirty="0">
              <a:solidFill>
                <a:schemeClr val="tx1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526592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BD0698-410D-2775-F93F-97055272C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100CF0-9C97-A052-225B-1C1AA4D24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B7510-B4B2-405B-B3A2-5AC67E743C62}" type="datetime1">
              <a:rPr lang="en-US" smtClean="0" sz="2000">
                <a:latin typeface="Arial" panose="020B0604020202020204" pitchFamily="34" charset="0"/>
                <a:cs typeface="Arial" panose="020B0604020202020204" pitchFamily="34" charset="0"/>
              </a:rPr>
              <a:t>10/26/2026</a:t>
            </a:fld>
            <a:endParaRPr lang="en-US" dirty="0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0FA58-2554-969E-F97A-32EC30B64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 sz="2000">
                <a:latin typeface="Arial" panose="020B0604020202020204" pitchFamily="34" charset="0"/>
                <a:cs typeface="Arial" panose="020B0604020202020204" pitchFamily="34" charset="0"/>
              </a:rPr>
              <a:t>LLM-д суурилсан Text-to-SQL агент</a:t>
            </a:r>
            <a:endParaRPr lang="en-US" dirty="0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6BCFBB-B46B-3A30-EC88-188EFA8D3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FE9AF-92D8-4B74-B37C-7FC29F92965E}" type="slidenum">
              <a:rPr lang="en-US" smtClean="0" sz="2000">
                <a:latin typeface="Arial" panose="020B0604020202020204" pitchFamily="34" charset="0"/>
                <a:cs typeface="Arial" panose="020B0604020202020204" pitchFamily="34" charset="0"/>
              </a:rPr>
              <a:t>9</a:t>
            </a:fld>
            <a:endParaRPr lang="en-US" dirty="0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1918646-2089-88F3-5261-A2A5F6068D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1" indent="0" algn="ctr">
              <a:lnSpc>
                <a:spcPct val="110000"/>
              </a:lnSpc>
              <a:buNone/>
            </a:pPr>
            <a:endParaRPr lang="mn-MN" sz="4400" b="1" dirty="0">
              <a:latin typeface="Arial"/>
            </a:endParaRPr>
          </a:p>
          <a:p>
            <a:pPr marL="457200" lvl="1" indent="0" algn="ctr">
              <a:lnSpc>
                <a:spcPct val="110000"/>
              </a:lnSpc>
              <a:buNone/>
            </a:pPr>
            <a:r>
              <a:rPr lang="mn-MN" sz="4400" b="1" dirty="0">
                <a:latin typeface="Arial"/>
              </a:rPr>
              <a:t>Анхаарал хандуулсан та бүхэнд талархал илэрхийлье</a:t>
            </a:r>
            <a:endParaRPr lang="en-US" sz="4400" dirty="0">
              <a:latin typeface="Arial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2D5C313-E537-B439-C3E9-7E3D29F8DC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542" y="0"/>
            <a:ext cx="5343172" cy="960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974135"/>
      </p:ext>
    </p:extLst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solidFill>
                  <a:srgbClr val="201B6D"/>
                </a:solidFill>
                <a:latin typeface="Arial"/>
              </a:rPr>
              <a:t>Агуулга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CE0E4E-491C-AFBC-452C-B48B7FE46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B7510-B4B2-405B-B3A2-5AC67E743C62}" type="datetime1">
              <a:rPr lang="en-US" smtClean="0" sz="2000">
                <a:latin typeface="Arial" panose="020B0604020202020204" pitchFamily="34" charset="0"/>
                <a:cs typeface="Arial" panose="020B0604020202020204" pitchFamily="34" charset="0"/>
              </a:rPr>
              <a:t>10/26/2026</a:t>
            </a:fld>
            <a:endParaRPr lang="en-US" dirty="0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446C08-9265-BB4F-9E7E-8DBA70441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 sz="2000">
                <a:latin typeface="Arial" panose="020B0604020202020204" pitchFamily="34" charset="0"/>
                <a:cs typeface="Arial" panose="020B0604020202020204" pitchFamily="34" charset="0"/>
              </a:rPr>
              <a:t>LLM-д суурилсан Text-to-SQL агент</a:t>
            </a:r>
            <a:endParaRPr lang="en-US" dirty="0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14F064-F04B-EAC2-8199-1DB1C98E6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FE9AF-92D8-4B74-B37C-7FC29F92965E}" type="slidenum">
              <a:rPr lang="en-US" smtClean="0" sz="2000">
                <a:latin typeface="Arial" panose="020B0604020202020204" pitchFamily="34" charset="0"/>
                <a:cs typeface="Arial" panose="020B0604020202020204" pitchFamily="34" charset="0"/>
              </a:rPr>
              <a:t>4</a:t>
            </a:fld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024128" y="1371600"/>
            <a:ext cx="4937760" cy="1188720"/>
          </a:xfrm>
          <a:prstGeom prst="roundRect">
            <a:avLst>
              <a:gd name="adj" fmla="val 8000"/>
            </a:avLst>
          </a:prstGeom>
          <a:solidFill>
            <a:srgbClr val="EE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1298448" y="1645920"/>
            <a:ext cx="640080" cy="640080"/>
          </a:xfrm>
          <a:prstGeom prst="ellipse">
            <a:avLst/>
          </a:prstGeom>
          <a:solidFill>
            <a:srgbClr val="201B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67128" y="1371600"/>
            <a:ext cx="3657600" cy="1188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201B6D"/>
                </a:solidFill>
                <a:latin typeface="Arial"/>
              </a:rPr>
              <a:t>Асуудал ба зорилго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8" y="1371600"/>
            <a:ext cx="4937760" cy="1188720"/>
          </a:xfrm>
          <a:prstGeom prst="roundRect">
            <a:avLst>
              <a:gd name="adj" fmla="val 8000"/>
            </a:avLst>
          </a:prstGeom>
          <a:solidFill>
            <a:srgbClr val="EE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6510528" y="1645920"/>
            <a:ext cx="640080" cy="640080"/>
          </a:xfrm>
          <a:prstGeom prst="ellipse">
            <a:avLst/>
          </a:prstGeom>
          <a:solidFill>
            <a:srgbClr val="201B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79208" y="1371600"/>
            <a:ext cx="3657600" cy="1188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201B6D"/>
                </a:solidFill>
                <a:latin typeface="Arial"/>
              </a:rPr>
              <a:t>Ижил төстэй системүүд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4128" y="2834640"/>
            <a:ext cx="4937760" cy="1188720"/>
          </a:xfrm>
          <a:prstGeom prst="roundRect">
            <a:avLst>
              <a:gd name="adj" fmla="val 8000"/>
            </a:avLst>
          </a:prstGeom>
          <a:solidFill>
            <a:srgbClr val="EE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1298448" y="3108960"/>
            <a:ext cx="640080" cy="640080"/>
          </a:xfrm>
          <a:prstGeom prst="ellipse">
            <a:avLst/>
          </a:prstGeom>
          <a:solidFill>
            <a:srgbClr val="201B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67128" y="2834640"/>
            <a:ext cx="3657600" cy="1188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201B6D"/>
                </a:solidFill>
                <a:latin typeface="Arial"/>
              </a:rPr>
              <a:t>Систем хэрхэн ажилладаг вэ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2834640"/>
            <a:ext cx="4937760" cy="1188720"/>
          </a:xfrm>
          <a:prstGeom prst="roundRect">
            <a:avLst>
              <a:gd name="adj" fmla="val 8000"/>
            </a:avLst>
          </a:prstGeom>
          <a:solidFill>
            <a:srgbClr val="EE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6510528" y="3108960"/>
            <a:ext cx="640080" cy="640080"/>
          </a:xfrm>
          <a:prstGeom prst="ellipse">
            <a:avLst/>
          </a:prstGeom>
          <a:solidFill>
            <a:srgbClr val="201B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79208" y="2834640"/>
            <a:ext cx="3657600" cy="1188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201B6D"/>
                </a:solidFill>
                <a:latin typeface="Arial"/>
              </a:rPr>
              <a:t>Өгөгдөл ба загварууд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24128" y="4297680"/>
            <a:ext cx="4937760" cy="1188720"/>
          </a:xfrm>
          <a:prstGeom prst="roundRect">
            <a:avLst>
              <a:gd name="adj" fmla="val 8000"/>
            </a:avLst>
          </a:prstGeom>
          <a:solidFill>
            <a:srgbClr val="EE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1298448" y="4572000"/>
            <a:ext cx="640080" cy="640080"/>
          </a:xfrm>
          <a:prstGeom prst="ellipse">
            <a:avLst/>
          </a:prstGeom>
          <a:solidFill>
            <a:srgbClr val="201B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67128" y="4297680"/>
            <a:ext cx="3657600" cy="1188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201B6D"/>
                </a:solidFill>
                <a:latin typeface="Arial"/>
              </a:rPr>
              <a:t>Туршилтын үр дүн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6208" y="4297680"/>
            <a:ext cx="4937760" cy="1188720"/>
          </a:xfrm>
          <a:prstGeom prst="roundRect">
            <a:avLst>
              <a:gd name="adj" fmla="val 8000"/>
            </a:avLst>
          </a:prstGeom>
          <a:solidFill>
            <a:srgbClr val="EE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6510528" y="4572000"/>
            <a:ext cx="640080" cy="640080"/>
          </a:xfrm>
          <a:prstGeom prst="ellipse">
            <a:avLst/>
          </a:prstGeom>
          <a:solidFill>
            <a:srgbClr val="201B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79208" y="4297680"/>
            <a:ext cx="3657600" cy="1188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201B6D"/>
                </a:solidFill>
                <a:latin typeface="Arial"/>
              </a:rPr>
              <a:t>Дүгнэлт ба цаашдын ажил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solidFill>
                  <a:srgbClr val="201B6D"/>
                </a:solidFill>
                <a:latin typeface="Arial"/>
              </a:rPr>
              <a:t>Асуудал: тоо мэдээ авахын тулд SQL хэрэгтэй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CE0E4E-491C-AFBC-452C-B48B7FE46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B7510-B4B2-405B-B3A2-5AC67E743C62}" type="datetime1">
              <a:rPr lang="en-US" smtClean="0" sz="2000">
                <a:latin typeface="Arial" panose="020B0604020202020204" pitchFamily="34" charset="0"/>
                <a:cs typeface="Arial" panose="020B0604020202020204" pitchFamily="34" charset="0"/>
              </a:rPr>
              <a:t>10/26/2026</a:t>
            </a:fld>
            <a:endParaRPr lang="en-US" dirty="0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446C08-9265-BB4F-9E7E-8DBA70441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 sz="2000">
                <a:latin typeface="Arial" panose="020B0604020202020204" pitchFamily="34" charset="0"/>
                <a:cs typeface="Arial" panose="020B0604020202020204" pitchFamily="34" charset="0"/>
              </a:rPr>
              <a:t>LLM-д суурилсан Text-to-SQL агент</a:t>
            </a:r>
            <a:endParaRPr lang="en-US" dirty="0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14F064-F04B-EAC2-8199-1DB1C98E6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FE9AF-92D8-4B74-B37C-7FC29F92965E}" type="slidenum">
              <a:rPr lang="en-US" smtClean="0" sz="2000">
                <a:latin typeface="Arial" panose="020B0604020202020204" pitchFamily="34" charset="0"/>
                <a:cs typeface="Arial" panose="020B0604020202020204" pitchFamily="34" charset="0"/>
              </a:rPr>
              <a:t>4</a:t>
            </a:fld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024128" y="1371600"/>
            <a:ext cx="3200400" cy="1371600"/>
          </a:xfrm>
          <a:prstGeom prst="roundRect">
            <a:avLst>
              <a:gd name="adj" fmla="val 25000"/>
            </a:avLst>
          </a:prstGeom>
          <a:solidFill>
            <a:srgbClr val="EE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000" b="1">
                <a:solidFill>
                  <a:srgbClr val="201B6D"/>
                </a:solidFill>
                <a:latin typeface="Arial"/>
              </a:rPr>
              <a:t>Ажилтан асууна</a:t>
            </a:r>
          </a:p>
          <a:p>
            <a:pPr algn="ctr"/>
            <a:r>
              <a:rPr sz="2000" b="0">
                <a:solidFill>
                  <a:srgbClr val="1F232B"/>
                </a:solidFill>
                <a:latin typeface="Arial"/>
              </a:rPr>
              <a:t>«Өнгөрсөн сард хэдэн зээл олгосон бэ?»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18888" y="1371600"/>
            <a:ext cx="3566160" cy="1371600"/>
          </a:xfrm>
          <a:prstGeom prst="roundRect">
            <a:avLst>
              <a:gd name="adj" fmla="val 8000"/>
            </a:avLst>
          </a:prstGeom>
          <a:solidFill>
            <a:srgbClr val="26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2000" b="0">
                <a:solidFill>
                  <a:srgbClr val="FFFFFF"/>
                </a:solidFill>
                <a:latin typeface="Arial"/>
              </a:rPr>
              <a:t>SELECT count(*)</a:t>
            </a:r>
          </a:p>
          <a:p>
            <a:pPr algn="l"/>
            <a:r>
              <a:rPr sz="2000" b="0">
                <a:solidFill>
                  <a:srgbClr val="FFFFFF"/>
                </a:solidFill>
                <a:latin typeface="Arial"/>
              </a:rPr>
              <a:t>FROM loans</a:t>
            </a:r>
          </a:p>
          <a:p>
            <a:pPr algn="l"/>
            <a:r>
              <a:rPr sz="2000" b="0">
                <a:solidFill>
                  <a:srgbClr val="F2B100"/>
                </a:solidFill>
                <a:latin typeface="Arial"/>
              </a:rPr>
              <a:t>WHERE month = 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79408" y="1371600"/>
            <a:ext cx="2194560" cy="1371600"/>
          </a:xfrm>
          <a:prstGeom prst="roundRect">
            <a:avLst>
              <a:gd name="adj" fmla="val 25000"/>
            </a:avLst>
          </a:prstGeom>
          <a:solidFill>
            <a:srgbClr val="FDF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4400" b="1">
                <a:solidFill>
                  <a:srgbClr val="201B6D"/>
                </a:solidFill>
                <a:latin typeface="Arial"/>
              </a:rPr>
              <a:t>1 284</a:t>
            </a:r>
          </a:p>
          <a:p>
            <a:pPr algn="ctr"/>
            <a:r>
              <a:rPr sz="2000" b="0">
                <a:solidFill>
                  <a:srgbClr val="1F232B"/>
                </a:solidFill>
                <a:latin typeface="Arial"/>
              </a:rPr>
              <a:t>зээл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224528" y="2057400"/>
            <a:ext cx="594360" cy="0"/>
          </a:xfrm>
          <a:prstGeom prst="line">
            <a:avLst/>
          </a:prstGeom>
          <a:ln w="31750">
            <a:solidFill>
              <a:srgbClr val="201B6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385048" y="2057400"/>
            <a:ext cx="594360" cy="0"/>
          </a:xfrm>
          <a:prstGeom prst="line">
            <a:avLst/>
          </a:prstGeom>
          <a:ln w="31750">
            <a:solidFill>
              <a:srgbClr val="201B6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818888" y="2788920"/>
            <a:ext cx="356616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0">
                <a:solidFill>
                  <a:srgbClr val="4A5260"/>
                </a:solidFill>
                <a:latin typeface="Arial"/>
              </a:rPr>
              <a:t>Үүнийг одоо шинжээч бичдэг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79408" y="2788920"/>
            <a:ext cx="219456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0">
                <a:solidFill>
                  <a:srgbClr val="4A5260"/>
                </a:solidFill>
                <a:latin typeface="Arial"/>
              </a:rPr>
              <a:t>(жишээ)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4128" y="3566160"/>
            <a:ext cx="3200400" cy="2286000"/>
          </a:xfrm>
          <a:prstGeom prst="roundRect">
            <a:avLst>
              <a:gd name="adj" fmla="val 8000"/>
            </a:avLst>
          </a:prstGeom>
          <a:solidFill>
            <a:srgbClr val="EE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252728" y="3703320"/>
            <a:ext cx="27432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201B6D"/>
                </a:solidFill>
                <a:latin typeface="Arial"/>
              </a:rPr>
              <a:t>Хүлээлт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52728" y="4251960"/>
            <a:ext cx="2743200" cy="1554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1F232B"/>
                </a:solidFill>
                <a:latin typeface="Arial"/>
              </a:rPr>
              <a:t>SQL мэддэг шинжээчээс хамаарна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53128" y="3566160"/>
            <a:ext cx="3200400" cy="2286000"/>
          </a:xfrm>
          <a:prstGeom prst="roundRect">
            <a:avLst>
              <a:gd name="adj" fmla="val 8000"/>
            </a:avLst>
          </a:prstGeom>
          <a:solidFill>
            <a:srgbClr val="EE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681728" y="3703320"/>
            <a:ext cx="27432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201B6D"/>
                </a:solidFill>
                <a:latin typeface="Arial"/>
              </a:rPr>
              <a:t>Хэл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81728" y="4251960"/>
            <a:ext cx="2743200" cy="1554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1F232B"/>
                </a:solidFill>
                <a:latin typeface="Arial"/>
              </a:rPr>
              <a:t>Монгол хэлний Text2SQL өгөгдөл, загвар алга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82128" y="3566160"/>
            <a:ext cx="3200400" cy="2286000"/>
          </a:xfrm>
          <a:prstGeom prst="roundRect">
            <a:avLst>
              <a:gd name="adj" fmla="val 8000"/>
            </a:avLst>
          </a:prstGeom>
          <a:solidFill>
            <a:srgbClr val="EE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110728" y="3703320"/>
            <a:ext cx="27432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201B6D"/>
                </a:solidFill>
                <a:latin typeface="Arial"/>
              </a:rPr>
              <a:t>Нууцлал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10728" y="4251960"/>
            <a:ext cx="2743200" cy="1554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1F232B"/>
                </a:solidFill>
                <a:latin typeface="Arial"/>
              </a:rPr>
              <a:t>Санхүүгийн өгөгдлийг гадны үйлчилгээнд илгээж болохгүй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solidFill>
                  <a:srgbClr val="201B6D"/>
                </a:solidFill>
                <a:latin typeface="Arial"/>
              </a:rPr>
              <a:t>Зорилго ба зорилтууд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CE0E4E-491C-AFBC-452C-B48B7FE46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B7510-B4B2-405B-B3A2-5AC67E743C62}" type="datetime1">
              <a:rPr lang="en-US" smtClean="0" sz="2000">
                <a:latin typeface="Arial" panose="020B0604020202020204" pitchFamily="34" charset="0"/>
                <a:cs typeface="Arial" panose="020B0604020202020204" pitchFamily="34" charset="0"/>
              </a:rPr>
              <a:t>10/26/2026</a:t>
            </a:fld>
            <a:endParaRPr lang="en-US" dirty="0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446C08-9265-BB4F-9E7E-8DBA70441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 sz="2000">
                <a:latin typeface="Arial" panose="020B0604020202020204" pitchFamily="34" charset="0"/>
                <a:cs typeface="Arial" panose="020B0604020202020204" pitchFamily="34" charset="0"/>
              </a:rPr>
              <a:t>LLM-д суурилсан Text-to-SQL агент</a:t>
            </a:r>
            <a:endParaRPr lang="en-US" dirty="0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14F064-F04B-EAC2-8199-1DB1C98E6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FE9AF-92D8-4B74-B37C-7FC29F92965E}" type="slidenum">
              <a:rPr lang="en-US" smtClean="0" sz="2000">
                <a:latin typeface="Arial" panose="020B0604020202020204" pitchFamily="34" charset="0"/>
                <a:cs typeface="Arial" panose="020B0604020202020204" pitchFamily="34" charset="0"/>
              </a:rPr>
              <a:t>4</a:t>
            </a:fld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024128" y="1188720"/>
            <a:ext cx="10149840" cy="914400"/>
          </a:xfrm>
          <a:prstGeom prst="roundRect">
            <a:avLst>
              <a:gd name="adj" fmla="val 8000"/>
            </a:avLst>
          </a:prstGeom>
          <a:solidFill>
            <a:srgbClr val="FDF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252728" y="1188720"/>
            <a:ext cx="9692640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201B6D"/>
                </a:solidFill>
                <a:latin typeface="Arial"/>
              </a:rPr>
              <a:t>Зорилго: </a:t>
            </a:r>
            <a:r>
              <a:rPr sz="2000" b="0">
                <a:solidFill>
                  <a:srgbClr val="1F232B"/>
                </a:solidFill>
                <a:latin typeface="Arial"/>
              </a:rPr>
              <a:t>монгол хэлээр асуусан асуултыг SQL болгож хариулдаг, нэг GPU-д ажиллах систем бүтээх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24128" y="2468880"/>
            <a:ext cx="1883664" cy="3383280"/>
          </a:xfrm>
          <a:prstGeom prst="roundRect">
            <a:avLst>
              <a:gd name="adj" fmla="val 8000"/>
            </a:avLst>
          </a:prstGeom>
          <a:solidFill>
            <a:srgbClr val="EE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1645920" y="2697480"/>
            <a:ext cx="640080" cy="640080"/>
          </a:xfrm>
          <a:prstGeom prst="ellipse">
            <a:avLst/>
          </a:prstGeom>
          <a:solidFill>
            <a:srgbClr val="201B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3520439"/>
            <a:ext cx="1700784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201B6D"/>
                </a:solidFill>
                <a:latin typeface="Arial"/>
              </a:rPr>
              <a:t>Мэдлэгийн сан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4480560"/>
            <a:ext cx="1700784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0">
                <a:solidFill>
                  <a:srgbClr val="4A5260"/>
                </a:solidFill>
                <a:latin typeface="Arial"/>
              </a:rPr>
              <a:t>схем, нэр томьёо, жишээ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72384" y="2468880"/>
            <a:ext cx="1883664" cy="3383280"/>
          </a:xfrm>
          <a:prstGeom prst="roundRect">
            <a:avLst>
              <a:gd name="adj" fmla="val 8000"/>
            </a:avLst>
          </a:prstGeom>
          <a:solidFill>
            <a:srgbClr val="EE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3694176" y="2697480"/>
            <a:ext cx="640080" cy="640080"/>
          </a:xfrm>
          <a:prstGeom prst="ellipse">
            <a:avLst/>
          </a:prstGeom>
          <a:solidFill>
            <a:srgbClr val="201B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63824" y="3520439"/>
            <a:ext cx="1700784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201B6D"/>
                </a:solidFill>
                <a:latin typeface="Arial"/>
              </a:rPr>
              <a:t>Загварт өгөх заавар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63824" y="4480560"/>
            <a:ext cx="1700784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0">
                <a:solidFill>
                  <a:srgbClr val="4A5260"/>
                </a:solidFill>
                <a:latin typeface="Arial"/>
              </a:rPr>
              <a:t>алхам алхмаар ажиллах дамжлага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20640" y="2468880"/>
            <a:ext cx="1883664" cy="3383280"/>
          </a:xfrm>
          <a:prstGeom prst="roundRect">
            <a:avLst>
              <a:gd name="adj" fmla="val 8000"/>
            </a:avLst>
          </a:prstGeom>
          <a:solidFill>
            <a:srgbClr val="EE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5742432" y="2697480"/>
            <a:ext cx="640080" cy="640080"/>
          </a:xfrm>
          <a:prstGeom prst="ellipse">
            <a:avLst/>
          </a:prstGeom>
          <a:solidFill>
            <a:srgbClr val="201B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3520439"/>
            <a:ext cx="1700784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201B6D"/>
                </a:solidFill>
                <a:latin typeface="Arial"/>
              </a:rPr>
              <a:t>Нэмэлт сургалт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4480560"/>
            <a:ext cx="1700784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0">
                <a:solidFill>
                  <a:srgbClr val="4A5260"/>
                </a:solidFill>
                <a:latin typeface="Arial"/>
              </a:rPr>
              <a:t>монгол хэл, санхүүгийн хэллэг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68896" y="2468880"/>
            <a:ext cx="1883664" cy="3383280"/>
          </a:xfrm>
          <a:prstGeom prst="roundRect">
            <a:avLst>
              <a:gd name="adj" fmla="val 8000"/>
            </a:avLst>
          </a:prstGeom>
          <a:solidFill>
            <a:srgbClr val="EE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7790688" y="2697480"/>
            <a:ext cx="640080" cy="640080"/>
          </a:xfrm>
          <a:prstGeom prst="ellipse">
            <a:avLst/>
          </a:prstGeom>
          <a:solidFill>
            <a:srgbClr val="201B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0336" y="3520439"/>
            <a:ext cx="1700784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201B6D"/>
                </a:solidFill>
                <a:latin typeface="Arial"/>
              </a:rPr>
              <a:t>Найдвартай байдал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60336" y="4480560"/>
            <a:ext cx="1700784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0">
                <a:solidFill>
                  <a:srgbClr val="4A5260"/>
                </a:solidFill>
                <a:latin typeface="Arial"/>
              </a:rPr>
              <a:t>сонгох, засах, татгалзах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17152" y="2468880"/>
            <a:ext cx="1883664" cy="3383280"/>
          </a:xfrm>
          <a:prstGeom prst="roundRect">
            <a:avLst>
              <a:gd name="adj" fmla="val 8000"/>
            </a:avLst>
          </a:prstGeom>
          <a:solidFill>
            <a:srgbClr val="EE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9838944" y="2697480"/>
            <a:ext cx="640080" cy="640080"/>
          </a:xfrm>
          <a:prstGeom prst="ellipse">
            <a:avLst/>
          </a:prstGeom>
          <a:solidFill>
            <a:srgbClr val="201B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08592" y="3520439"/>
            <a:ext cx="1700784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201B6D"/>
                </a:solidFill>
                <a:latin typeface="Arial"/>
              </a:rPr>
              <a:t>Үнэлгээ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08592" y="4480560"/>
            <a:ext cx="1700784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0">
                <a:solidFill>
                  <a:srgbClr val="4A5260"/>
                </a:solidFill>
                <a:latin typeface="Arial"/>
              </a:rPr>
              <a:t>500 асуултаар хэмжих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solidFill>
                  <a:srgbClr val="201B6D"/>
                </a:solidFill>
                <a:latin typeface="Arial"/>
              </a:rPr>
              <a:t>Шалгасан 4 таамаглал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CE0E4E-491C-AFBC-452C-B48B7FE46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B7510-B4B2-405B-B3A2-5AC67E743C62}" type="datetime1">
              <a:rPr lang="en-US" smtClean="0" sz="2000">
                <a:latin typeface="Arial" panose="020B0604020202020204" pitchFamily="34" charset="0"/>
                <a:cs typeface="Arial" panose="020B0604020202020204" pitchFamily="34" charset="0"/>
              </a:rPr>
              <a:t>10/26/2026</a:t>
            </a:fld>
            <a:endParaRPr lang="en-US" dirty="0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446C08-9265-BB4F-9E7E-8DBA70441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 sz="2000">
                <a:latin typeface="Arial" panose="020B0604020202020204" pitchFamily="34" charset="0"/>
                <a:cs typeface="Arial" panose="020B0604020202020204" pitchFamily="34" charset="0"/>
              </a:rPr>
              <a:t>LLM-д суурилсан Text-to-SQL агент</a:t>
            </a:r>
            <a:endParaRPr lang="en-US" dirty="0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14F064-F04B-EAC2-8199-1DB1C98E6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FE9AF-92D8-4B74-B37C-7FC29F92965E}" type="slidenum">
              <a:rPr lang="en-US" smtClean="0" sz="2000">
                <a:latin typeface="Arial" panose="020B0604020202020204" pitchFamily="34" charset="0"/>
                <a:cs typeface="Arial" panose="020B0604020202020204" pitchFamily="34" charset="0"/>
              </a:rPr>
              <a:t>4</a:t>
            </a:fld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024128" y="1280160"/>
            <a:ext cx="4937760" cy="2148840"/>
          </a:xfrm>
          <a:prstGeom prst="roundRect">
            <a:avLst>
              <a:gd name="adj" fmla="val 8000"/>
            </a:avLst>
          </a:prstGeom>
          <a:solidFill>
            <a:srgbClr val="EE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1298448" y="1554480"/>
            <a:ext cx="914400" cy="640080"/>
          </a:xfrm>
          <a:prstGeom prst="roundRect">
            <a:avLst>
              <a:gd name="adj" fmla="val 8000"/>
            </a:avLst>
          </a:prstGeom>
          <a:solidFill>
            <a:srgbClr val="201B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H1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2286000"/>
            <a:ext cx="438912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1F232B"/>
                </a:solidFill>
                <a:latin typeface="Arial"/>
              </a:rPr>
              <a:t>Мэдлэгийн сангаас хайж өгөх нь нарийвчлалыг 10-аас дээш пунктээр өсгөнө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8" y="1280160"/>
            <a:ext cx="4937760" cy="2148840"/>
          </a:xfrm>
          <a:prstGeom prst="roundRect">
            <a:avLst>
              <a:gd name="adj" fmla="val 8000"/>
            </a:avLst>
          </a:prstGeom>
          <a:solidFill>
            <a:srgbClr val="EE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6510528" y="1554480"/>
            <a:ext cx="914400" cy="640080"/>
          </a:xfrm>
          <a:prstGeom prst="roundRect">
            <a:avLst>
              <a:gd name="adj" fmla="val 8000"/>
            </a:avLst>
          </a:prstGeom>
          <a:solidFill>
            <a:srgbClr val="201B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H2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0528" y="2286000"/>
            <a:ext cx="438912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1F232B"/>
                </a:solidFill>
                <a:latin typeface="Arial"/>
              </a:rPr>
              <a:t>Асуултыг англи хэл рүү орчуулж өгөх нь монголоор шууд өгснөөс илүү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4128" y="3657600"/>
            <a:ext cx="4937760" cy="2148840"/>
          </a:xfrm>
          <a:prstGeom prst="roundRect">
            <a:avLst>
              <a:gd name="adj" fmla="val 8000"/>
            </a:avLst>
          </a:prstGeom>
          <a:solidFill>
            <a:srgbClr val="EE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1298448" y="3931920"/>
            <a:ext cx="914400" cy="640080"/>
          </a:xfrm>
          <a:prstGeom prst="roundRect">
            <a:avLst>
              <a:gd name="adj" fmla="val 8000"/>
            </a:avLst>
          </a:prstGeom>
          <a:solidFill>
            <a:srgbClr val="201B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H3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4663440"/>
            <a:ext cx="438912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1F232B"/>
                </a:solidFill>
                <a:latin typeface="Arial"/>
              </a:rPr>
              <a:t>Өөрийн өгөгдлийн сангаар нэмж сургасан загвар илүү сайн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3657600"/>
            <a:ext cx="4937760" cy="2148840"/>
          </a:xfrm>
          <a:prstGeom prst="roundRect">
            <a:avLst>
              <a:gd name="adj" fmla="val 8000"/>
            </a:avLst>
          </a:prstGeom>
          <a:solidFill>
            <a:srgbClr val="EE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6510528" y="3931920"/>
            <a:ext cx="914400" cy="640080"/>
          </a:xfrm>
          <a:prstGeom prst="roundRect">
            <a:avLst>
              <a:gd name="adj" fmla="val 8000"/>
            </a:avLst>
          </a:prstGeom>
          <a:solidFill>
            <a:srgbClr val="201B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H4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0528" y="4663440"/>
            <a:ext cx="438912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1F232B"/>
                </a:solidFill>
                <a:latin typeface="Arial"/>
              </a:rPr>
              <a:t>Олон хувилбараас санал хураавал илүү зөв хариулна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solidFill>
                  <a:srgbClr val="201B6D"/>
                </a:solidFill>
                <a:latin typeface="Arial"/>
              </a:rPr>
              <a:t>Ижил төстэй системүүд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CE0E4E-491C-AFBC-452C-B48B7FE46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B7510-B4B2-405B-B3A2-5AC67E743C62}" type="datetime1">
              <a:rPr lang="en-US" smtClean="0" sz="2000">
                <a:latin typeface="Arial" panose="020B0604020202020204" pitchFamily="34" charset="0"/>
                <a:cs typeface="Arial" panose="020B0604020202020204" pitchFamily="34" charset="0"/>
              </a:rPr>
              <a:t>10/26/2026</a:t>
            </a:fld>
            <a:endParaRPr lang="en-US" dirty="0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446C08-9265-BB4F-9E7E-8DBA70441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 sz="2000">
                <a:latin typeface="Arial" panose="020B0604020202020204" pitchFamily="34" charset="0"/>
                <a:cs typeface="Arial" panose="020B0604020202020204" pitchFamily="34" charset="0"/>
              </a:rPr>
              <a:t>LLM-д суурилсан Text-to-SQL агент</a:t>
            </a:r>
            <a:endParaRPr lang="en-US" dirty="0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14F064-F04B-EAC2-8199-1DB1C98E6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FE9AF-92D8-4B74-B37C-7FC29F92965E}" type="slidenum">
              <a:rPr lang="en-US" smtClean="0" sz="2000">
                <a:latin typeface="Arial" panose="020B0604020202020204" pitchFamily="34" charset="0"/>
                <a:cs typeface="Arial" panose="020B0604020202020204" pitchFamily="34" charset="0"/>
              </a:rPr>
              <a:t>4</a:t>
            </a:fld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024128" y="1188720"/>
          <a:ext cx="10149840" cy="35844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91840"/>
                <a:gridCol w="3017520"/>
                <a:gridCol w="1828800"/>
                <a:gridCol w="2011680"/>
              </a:tblGrid>
              <a:tr h="512064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Arial"/>
                        </a:rPr>
                        <a:t>Систем</a:t>
                      </a:r>
                    </a:p>
                  </a:txBody>
                  <a:tcPr marL="91440" marR="91440" marT="27432" marB="27432" anchor="ctr">
                    <a:solidFill>
                      <a:srgbClr val="201B6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Arial"/>
                        </a:rPr>
                        <a:t>Хаана ажилладаг</a:t>
                      </a:r>
                    </a:p>
                  </a:txBody>
                  <a:tcPr marL="91440" marR="91440" marT="27432" marB="27432" anchor="ctr">
                    <a:solidFill>
                      <a:srgbClr val="201B6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Arial"/>
                        </a:rPr>
                        <a:t>Нээлттэй</a:t>
                      </a:r>
                    </a:p>
                  </a:txBody>
                  <a:tcPr marL="91440" marR="91440" marT="27432" marB="27432" anchor="ctr">
                    <a:solidFill>
                      <a:srgbClr val="201B6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Arial"/>
                        </a:rPr>
                        <a:t>Монгол хэл</a:t>
                      </a:r>
                    </a:p>
                  </a:txBody>
                  <a:tcPr marL="91440" marR="91440" marT="27432" marB="27432" anchor="ctr">
                    <a:solidFill>
                      <a:srgbClr val="201B6D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32B"/>
                          </a:solidFill>
                          <a:latin typeface="Arial"/>
                        </a:rPr>
                        <a:t>Snowflake Cortex Analyst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32B"/>
                          </a:solidFill>
                          <a:latin typeface="Arial"/>
                        </a:rPr>
                        <a:t>Snowflake үүл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32B"/>
                          </a:solidFill>
                          <a:latin typeface="Arial"/>
                        </a:rPr>
                        <a:t>үгүй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32B"/>
                          </a:solidFill>
                          <a:latin typeface="Arial"/>
                        </a:rPr>
                        <a:t>хэмжээгүй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32B"/>
                          </a:solidFill>
                          <a:latin typeface="Arial"/>
                        </a:rPr>
                        <a:t>Databricks Genie</a:t>
                      </a:r>
                    </a:p>
                  </a:txBody>
                  <a:tcPr marL="91440" marR="91440" marT="27432" marB="27432" anchor="ctr"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32B"/>
                          </a:solidFill>
                          <a:latin typeface="Arial"/>
                        </a:rPr>
                        <a:t>Databricks үүл</a:t>
                      </a:r>
                    </a:p>
                  </a:txBody>
                  <a:tcPr marL="91440" marR="91440" marT="27432" marB="27432" anchor="ctr"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32B"/>
                          </a:solidFill>
                          <a:latin typeface="Arial"/>
                        </a:rPr>
                        <a:t>үгүй</a:t>
                      </a:r>
                    </a:p>
                  </a:txBody>
                  <a:tcPr marL="91440" marR="91440" marT="27432" marB="27432" anchor="ctr"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32B"/>
                          </a:solidFill>
                          <a:latin typeface="Arial"/>
                        </a:rPr>
                        <a:t>хэмжээгүй</a:t>
                      </a:r>
                    </a:p>
                  </a:txBody>
                  <a:tcPr marL="91440" marR="91440" marT="27432" marB="27432" anchor="ctr">
                    <a:solidFill>
                      <a:srgbClr val="F6F6F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32B"/>
                          </a:solidFill>
                          <a:latin typeface="Arial"/>
                        </a:rPr>
                        <a:t>Power BI Copilot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32B"/>
                          </a:solidFill>
                          <a:latin typeface="Arial"/>
                        </a:rPr>
                        <a:t>Microsoft үүл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32B"/>
                          </a:solidFill>
                          <a:latin typeface="Arial"/>
                        </a:rPr>
                        <a:t>үгүй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32B"/>
                          </a:solidFill>
                          <a:latin typeface="Arial"/>
                        </a:rPr>
                        <a:t>хэмжээгүй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32B"/>
                          </a:solidFill>
                          <a:latin typeface="Arial"/>
                        </a:rPr>
                        <a:t>Vanna</a:t>
                      </a:r>
                    </a:p>
                  </a:txBody>
                  <a:tcPr marL="91440" marR="91440" marT="27432" marB="27432" anchor="ctr"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32B"/>
                          </a:solidFill>
                          <a:latin typeface="Arial"/>
                        </a:rPr>
                        <a:t>Өөрийн сервер</a:t>
                      </a:r>
                    </a:p>
                  </a:txBody>
                  <a:tcPr marL="91440" marR="91440" marT="27432" marB="27432" anchor="ctr"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32B"/>
                          </a:solidFill>
                          <a:latin typeface="Arial"/>
                        </a:rPr>
                        <a:t>тийм</a:t>
                      </a:r>
                    </a:p>
                  </a:txBody>
                  <a:tcPr marL="91440" marR="91440" marT="27432" marB="27432" anchor="ctr"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32B"/>
                          </a:solidFill>
                          <a:latin typeface="Arial"/>
                        </a:rPr>
                        <a:t>хэмжээгүй</a:t>
                      </a:r>
                    </a:p>
                  </a:txBody>
                  <a:tcPr marL="91440" marR="91440" marT="27432" marB="27432" anchor="ctr">
                    <a:solidFill>
                      <a:srgbClr val="F6F6F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32B"/>
                          </a:solidFill>
                          <a:latin typeface="Arial"/>
                        </a:rPr>
                        <a:t>Wren AI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32B"/>
                          </a:solidFill>
                          <a:latin typeface="Arial"/>
                        </a:rPr>
                        <a:t>Өөрийн сервер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32B"/>
                          </a:solidFill>
                          <a:latin typeface="Arial"/>
                        </a:rPr>
                        <a:t>тийм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32B"/>
                          </a:solidFill>
                          <a:latin typeface="Arial"/>
                        </a:rPr>
                        <a:t>хэмжээгүй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201B6D"/>
                          </a:solidFill>
                          <a:latin typeface="Arial"/>
                        </a:rPr>
                        <a:t>Энэ ажил</a:t>
                      </a:r>
                    </a:p>
                  </a:txBody>
                  <a:tcPr marL="91440" marR="91440" marT="27432" marB="27432" anchor="ctr">
                    <a:solidFill>
                      <a:srgbClr val="FDF3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201B6D"/>
                          </a:solidFill>
                          <a:latin typeface="Arial"/>
                        </a:rPr>
                        <a:t>Байгууллага дотор</a:t>
                      </a:r>
                    </a:p>
                  </a:txBody>
                  <a:tcPr marL="91440" marR="91440" marT="27432" marB="27432" anchor="ctr">
                    <a:solidFill>
                      <a:srgbClr val="FDF3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201B6D"/>
                          </a:solidFill>
                          <a:latin typeface="Arial"/>
                        </a:rPr>
                        <a:t>тийм</a:t>
                      </a:r>
                    </a:p>
                  </a:txBody>
                  <a:tcPr marL="91440" marR="91440" marT="27432" marB="27432" anchor="ctr">
                    <a:solidFill>
                      <a:srgbClr val="FDF3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201B6D"/>
                          </a:solidFill>
                          <a:latin typeface="Arial"/>
                        </a:rPr>
                        <a:t>хэмжсэн</a:t>
                      </a:r>
                    </a:p>
                  </a:txBody>
                  <a:tcPr marL="91440" marR="91440" marT="27432" marB="27432" anchor="ctr">
                    <a:solidFill>
                      <a:srgbClr val="FDF3D6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1024128" y="5303520"/>
            <a:ext cx="10149840" cy="777240"/>
          </a:xfrm>
          <a:prstGeom prst="roundRect">
            <a:avLst>
              <a:gd name="adj" fmla="val 8000"/>
            </a:avLst>
          </a:prstGeom>
          <a:solidFill>
            <a:srgbClr val="FDF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52728" y="5303520"/>
            <a:ext cx="969264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201B6D"/>
                </a:solidFill>
                <a:latin typeface="Arial"/>
              </a:rPr>
              <a:t>Цоорхой: </a:t>
            </a:r>
            <a:r>
              <a:rPr sz="2000" b="0">
                <a:solidFill>
                  <a:srgbClr val="1F232B"/>
                </a:solidFill>
                <a:latin typeface="Arial"/>
              </a:rPr>
              <a:t>монгол хэл дээр хэмжсэн, өгөгдлөө гадагш гаргадаггүй шийдэл байгаагүй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solidFill>
                  <a:srgbClr val="201B6D"/>
                </a:solidFill>
                <a:latin typeface="Arial"/>
              </a:rPr>
              <a:t>Систем хэрхэн ажилладаг вэ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CE0E4E-491C-AFBC-452C-B48B7FE46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B7510-B4B2-405B-B3A2-5AC67E743C62}" type="datetime1">
              <a:rPr lang="en-US" smtClean="0" sz="2000">
                <a:latin typeface="Arial" panose="020B0604020202020204" pitchFamily="34" charset="0"/>
                <a:cs typeface="Arial" panose="020B0604020202020204" pitchFamily="34" charset="0"/>
              </a:rPr>
              <a:t>10/26/2026</a:t>
            </a:fld>
            <a:endParaRPr lang="en-US" dirty="0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446C08-9265-BB4F-9E7E-8DBA70441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 sz="2000">
                <a:latin typeface="Arial" panose="020B0604020202020204" pitchFamily="34" charset="0"/>
                <a:cs typeface="Arial" panose="020B0604020202020204" pitchFamily="34" charset="0"/>
              </a:rPr>
              <a:t>LLM-д суурилсан Text-to-SQL агент</a:t>
            </a:r>
            <a:endParaRPr lang="en-US" dirty="0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14F064-F04B-EAC2-8199-1DB1C98E6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FE9AF-92D8-4B74-B37C-7FC29F92965E}" type="slidenum">
              <a:rPr lang="en-US" smtClean="0" sz="2000">
                <a:latin typeface="Arial" panose="020B0604020202020204" pitchFamily="34" charset="0"/>
                <a:cs typeface="Arial" panose="020B0604020202020204" pitchFamily="34" charset="0"/>
              </a:rPr>
              <a:t>4</a:t>
            </a:fld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024128" y="2057400"/>
            <a:ext cx="2240280" cy="1143000"/>
          </a:xfrm>
          <a:prstGeom prst="roundRect">
            <a:avLst>
              <a:gd name="adj" fmla="val 8000"/>
            </a:avLst>
          </a:prstGeom>
          <a:solidFill>
            <a:srgbClr val="EE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000" b="1">
                <a:solidFill>
                  <a:srgbClr val="201B6D"/>
                </a:solidFill>
                <a:latin typeface="Arial"/>
              </a:rPr>
              <a:t>Асуулт</a:t>
            </a:r>
          </a:p>
          <a:p>
            <a:pPr algn="ctr"/>
            <a:r>
              <a:rPr sz="2000" b="0">
                <a:solidFill>
                  <a:srgbClr val="4A5260"/>
                </a:solidFill>
                <a:latin typeface="Arial"/>
              </a:rPr>
              <a:t>кирилл, латин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2057400"/>
            <a:ext cx="2240280" cy="1143000"/>
          </a:xfrm>
          <a:prstGeom prst="roundRect">
            <a:avLst>
              <a:gd name="adj" fmla="val 8000"/>
            </a:avLst>
          </a:prstGeom>
          <a:solidFill>
            <a:srgbClr val="EE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000" b="1">
                <a:solidFill>
                  <a:srgbClr val="201B6D"/>
                </a:solidFill>
                <a:latin typeface="Arial"/>
              </a:rPr>
              <a:t>1. Шалгах</a:t>
            </a:r>
          </a:p>
          <a:p>
            <a:pPr algn="ctr"/>
            <a:r>
              <a:rPr sz="2000" b="0">
                <a:solidFill>
                  <a:srgbClr val="4A5260"/>
                </a:solidFill>
                <a:latin typeface="Arial"/>
              </a:rPr>
              <a:t>татгалзах дүрэм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91072" y="2057400"/>
            <a:ext cx="2240280" cy="1143000"/>
          </a:xfrm>
          <a:prstGeom prst="roundRect">
            <a:avLst>
              <a:gd name="adj" fmla="val 8000"/>
            </a:avLst>
          </a:prstGeom>
          <a:solidFill>
            <a:srgbClr val="FDF3D6"/>
          </a:solidFill>
          <a:ln w="19050">
            <a:solidFill>
              <a:srgbClr val="F2B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000" b="1">
                <a:solidFill>
                  <a:srgbClr val="201B6D"/>
                </a:solidFill>
                <a:latin typeface="Arial"/>
              </a:rPr>
              <a:t>2. Орчуулах</a:t>
            </a:r>
          </a:p>
          <a:p>
            <a:pPr algn="ctr"/>
            <a:r>
              <a:rPr sz="2000" b="0">
                <a:solidFill>
                  <a:srgbClr val="4A5260"/>
                </a:solidFill>
                <a:latin typeface="Arial"/>
              </a:rPr>
              <a:t>англи хэл рүү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24544" y="2057400"/>
            <a:ext cx="2240280" cy="1143000"/>
          </a:xfrm>
          <a:prstGeom prst="roundRect">
            <a:avLst>
              <a:gd name="adj" fmla="val 8000"/>
            </a:avLst>
          </a:prstGeom>
          <a:solidFill>
            <a:srgbClr val="EE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000" b="1">
                <a:solidFill>
                  <a:srgbClr val="201B6D"/>
                </a:solidFill>
                <a:latin typeface="Arial"/>
              </a:rPr>
              <a:t>3. Мэдлэг хайх</a:t>
            </a:r>
          </a:p>
          <a:p>
            <a:pPr algn="ctr"/>
            <a:r>
              <a:rPr sz="2000" b="0">
                <a:solidFill>
                  <a:srgbClr val="4A5260"/>
                </a:solidFill>
                <a:latin typeface="Arial"/>
              </a:rPr>
              <a:t>схем, жишээ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4114800"/>
            <a:ext cx="2240280" cy="1143000"/>
          </a:xfrm>
          <a:prstGeom prst="roundRect">
            <a:avLst>
              <a:gd name="adj" fmla="val 8000"/>
            </a:avLst>
          </a:prstGeom>
          <a:solidFill>
            <a:srgbClr val="EE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000" b="1">
                <a:solidFill>
                  <a:srgbClr val="201B6D"/>
                </a:solidFill>
                <a:latin typeface="Arial"/>
              </a:rPr>
              <a:t>7. Хариулах</a:t>
            </a:r>
          </a:p>
          <a:p>
            <a:pPr algn="ctr"/>
            <a:r>
              <a:rPr sz="2000" b="0">
                <a:solidFill>
                  <a:srgbClr val="4A5260"/>
                </a:solidFill>
                <a:latin typeface="Arial"/>
              </a:rPr>
              <a:t>тоо эсвэл татгалзал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0" y="4114800"/>
            <a:ext cx="2240280" cy="1143000"/>
          </a:xfrm>
          <a:prstGeom prst="roundRect">
            <a:avLst>
              <a:gd name="adj" fmla="val 8000"/>
            </a:avLst>
          </a:prstGeom>
          <a:solidFill>
            <a:srgbClr val="EE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000" b="1">
                <a:solidFill>
                  <a:srgbClr val="201B6D"/>
                </a:solidFill>
                <a:latin typeface="Arial"/>
              </a:rPr>
              <a:t>6. Санал хураах</a:t>
            </a:r>
          </a:p>
          <a:p>
            <a:pPr algn="ctr"/>
            <a:r>
              <a:rPr sz="2000" b="0">
                <a:solidFill>
                  <a:srgbClr val="4A5260"/>
                </a:solidFill>
                <a:latin typeface="Arial"/>
              </a:rPr>
              <a:t>8 хувилбараас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91072" y="4114800"/>
            <a:ext cx="2240280" cy="1143000"/>
          </a:xfrm>
          <a:prstGeom prst="roundRect">
            <a:avLst>
              <a:gd name="adj" fmla="val 8000"/>
            </a:avLst>
          </a:prstGeom>
          <a:solidFill>
            <a:srgbClr val="EE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000" b="1">
                <a:solidFill>
                  <a:srgbClr val="201B6D"/>
                </a:solidFill>
                <a:latin typeface="Arial"/>
              </a:rPr>
              <a:t>5. Шалгах, засах</a:t>
            </a:r>
          </a:p>
          <a:p>
            <a:pPr algn="ctr"/>
            <a:r>
              <a:rPr sz="2000" b="0">
                <a:solidFill>
                  <a:srgbClr val="4A5260"/>
                </a:solidFill>
                <a:latin typeface="Arial"/>
              </a:rPr>
              <a:t>алдааг засна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24544" y="4114800"/>
            <a:ext cx="2240280" cy="1143000"/>
          </a:xfrm>
          <a:prstGeom prst="roundRect">
            <a:avLst>
              <a:gd name="adj" fmla="val 8000"/>
            </a:avLst>
          </a:prstGeom>
          <a:solidFill>
            <a:srgbClr val="FDF3D6"/>
          </a:solidFill>
          <a:ln w="19050">
            <a:solidFill>
              <a:srgbClr val="F2B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000" b="1">
                <a:solidFill>
                  <a:srgbClr val="201B6D"/>
                </a:solidFill>
                <a:latin typeface="Arial"/>
              </a:rPr>
              <a:t>4. SQL бичих</a:t>
            </a:r>
          </a:p>
          <a:p>
            <a:pPr algn="ctr"/>
            <a:r>
              <a:rPr sz="2000" b="0">
                <a:solidFill>
                  <a:srgbClr val="4A5260"/>
                </a:solidFill>
                <a:latin typeface="Arial"/>
              </a:rPr>
              <a:t>Arctic загвар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264408" y="2628900"/>
            <a:ext cx="393192" cy="0"/>
          </a:xfrm>
          <a:prstGeom prst="line">
            <a:avLst/>
          </a:prstGeom>
          <a:ln w="31750">
            <a:solidFill>
              <a:srgbClr val="201B6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3264408" y="4686300"/>
            <a:ext cx="393192" cy="0"/>
          </a:xfrm>
          <a:prstGeom prst="line">
            <a:avLst/>
          </a:prstGeom>
          <a:ln w="31750">
            <a:solidFill>
              <a:srgbClr val="201B6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897880" y="2628900"/>
            <a:ext cx="393192" cy="0"/>
          </a:xfrm>
          <a:prstGeom prst="line">
            <a:avLst/>
          </a:prstGeom>
          <a:ln w="31750">
            <a:solidFill>
              <a:srgbClr val="201B6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5897880" y="4686300"/>
            <a:ext cx="393192" cy="0"/>
          </a:xfrm>
          <a:prstGeom prst="line">
            <a:avLst/>
          </a:prstGeom>
          <a:ln w="31750">
            <a:solidFill>
              <a:srgbClr val="201B6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531352" y="2628900"/>
            <a:ext cx="393192" cy="0"/>
          </a:xfrm>
          <a:prstGeom prst="line">
            <a:avLst/>
          </a:prstGeom>
          <a:ln w="31750">
            <a:solidFill>
              <a:srgbClr val="201B6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8531352" y="4686300"/>
            <a:ext cx="393192" cy="0"/>
          </a:xfrm>
          <a:prstGeom prst="line">
            <a:avLst/>
          </a:prstGeom>
          <a:ln w="31750">
            <a:solidFill>
              <a:srgbClr val="201B6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044684" y="3200400"/>
            <a:ext cx="0" cy="914400"/>
          </a:xfrm>
          <a:prstGeom prst="line">
            <a:avLst/>
          </a:prstGeom>
          <a:ln w="31750">
            <a:solidFill>
              <a:srgbClr val="201B6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an 21"/>
          <p:cNvSpPr/>
          <p:nvPr/>
        </p:nvSpPr>
        <p:spPr>
          <a:xfrm>
            <a:off x="8924544" y="1188720"/>
            <a:ext cx="2240280" cy="685800"/>
          </a:xfrm>
          <a:prstGeom prst="can">
            <a:avLst/>
          </a:prstGeom>
          <a:solidFill>
            <a:srgbClr val="FFFFFF"/>
          </a:solidFill>
          <a:ln w="19050">
            <a:solidFill>
              <a:srgbClr val="201B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000" b="1">
                <a:solidFill>
                  <a:srgbClr val="201B6D"/>
                </a:solidFill>
                <a:latin typeface="Arial"/>
              </a:rPr>
              <a:t>Мэдлэгийн сан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0044684" y="1874519"/>
            <a:ext cx="0" cy="182881"/>
          </a:xfrm>
          <a:prstGeom prst="line">
            <a:avLst/>
          </a:prstGeom>
          <a:ln w="31750">
            <a:solidFill>
              <a:srgbClr val="201B6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Can 23"/>
          <p:cNvSpPr/>
          <p:nvPr/>
        </p:nvSpPr>
        <p:spPr>
          <a:xfrm>
            <a:off x="6291072" y="5532120"/>
            <a:ext cx="2240280" cy="685800"/>
          </a:xfrm>
          <a:prstGeom prst="can">
            <a:avLst/>
          </a:prstGeom>
          <a:solidFill>
            <a:srgbClr val="FFFFFF"/>
          </a:solidFill>
          <a:ln w="19050">
            <a:solidFill>
              <a:srgbClr val="201B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000" b="1">
                <a:solidFill>
                  <a:srgbClr val="201B6D"/>
                </a:solidFill>
                <a:latin typeface="Arial"/>
              </a:rPr>
              <a:t>PostgreSQL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7411212" y="5257800"/>
            <a:ext cx="0" cy="274320"/>
          </a:xfrm>
          <a:prstGeom prst="line">
            <a:avLst/>
          </a:prstGeom>
          <a:ln w="31750">
            <a:solidFill>
              <a:srgbClr val="201B6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024128" y="5669280"/>
            <a:ext cx="42062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F2B100"/>
                </a:solidFill>
                <a:latin typeface="Arial"/>
              </a:rPr>
              <a:t>■ </a:t>
            </a:r>
            <a:r>
              <a:rPr sz="2000" b="0">
                <a:solidFill>
                  <a:srgbClr val="4A5260"/>
                </a:solidFill>
                <a:latin typeface="Arial"/>
              </a:rPr>
              <a:t>загвар ажилладаг алхам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solidFill>
                  <a:srgbClr val="201B6D"/>
                </a:solidFill>
                <a:latin typeface="Arial"/>
              </a:rPr>
              <a:t>Өгөгдөл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CE0E4E-491C-AFBC-452C-B48B7FE46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B7510-B4B2-405B-B3A2-5AC67E743C62}" type="datetime1">
              <a:rPr lang="en-US" smtClean="0" sz="2000">
                <a:latin typeface="Arial" panose="020B0604020202020204" pitchFamily="34" charset="0"/>
                <a:cs typeface="Arial" panose="020B0604020202020204" pitchFamily="34" charset="0"/>
              </a:rPr>
              <a:t>10/26/2026</a:t>
            </a:fld>
            <a:endParaRPr lang="en-US" dirty="0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446C08-9265-BB4F-9E7E-8DBA70441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 sz="2000">
                <a:latin typeface="Arial" panose="020B0604020202020204" pitchFamily="34" charset="0"/>
                <a:cs typeface="Arial" panose="020B0604020202020204" pitchFamily="34" charset="0"/>
              </a:rPr>
              <a:t>LLM-д суурилсан Text-to-SQL агент</a:t>
            </a:r>
            <a:endParaRPr lang="en-US" dirty="0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14F064-F04B-EAC2-8199-1DB1C98E6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FE9AF-92D8-4B74-B37C-7FC29F92965E}" type="slidenum">
              <a:rPr lang="en-US" smtClean="0" sz="2000">
                <a:latin typeface="Arial" panose="020B0604020202020204" pitchFamily="34" charset="0"/>
                <a:cs typeface="Arial" panose="020B0604020202020204" pitchFamily="34" charset="0"/>
              </a:rPr>
              <a:t>4</a:t>
            </a:fld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024128" y="1188720"/>
            <a:ext cx="2331720" cy="1645920"/>
          </a:xfrm>
          <a:prstGeom prst="roundRect">
            <a:avLst>
              <a:gd name="adj" fmla="val 8000"/>
            </a:avLst>
          </a:prstGeom>
          <a:solidFill>
            <a:srgbClr val="EE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24128" y="1325880"/>
            <a:ext cx="233172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4400" b="1">
                <a:solidFill>
                  <a:srgbClr val="201B6D"/>
                </a:solidFill>
                <a:latin typeface="Arial"/>
              </a:rPr>
              <a:t>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194560"/>
            <a:ext cx="233172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0">
                <a:solidFill>
                  <a:srgbClr val="4A5260"/>
                </a:solidFill>
                <a:latin typeface="Arial"/>
              </a:rPr>
              <a:t>хүснэгт (view)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30168" y="1188720"/>
            <a:ext cx="2331720" cy="1645920"/>
          </a:xfrm>
          <a:prstGeom prst="roundRect">
            <a:avLst>
              <a:gd name="adj" fmla="val 8000"/>
            </a:avLst>
          </a:prstGeom>
          <a:solidFill>
            <a:srgbClr val="EE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630168" y="1325880"/>
            <a:ext cx="233172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4400" b="1">
                <a:solidFill>
                  <a:srgbClr val="201B6D"/>
                </a:solidFill>
                <a:latin typeface="Arial"/>
              </a:rPr>
              <a:t>635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0168" y="2194560"/>
            <a:ext cx="233172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0">
                <a:solidFill>
                  <a:srgbClr val="4A5260"/>
                </a:solidFill>
                <a:latin typeface="Arial"/>
              </a:rPr>
              <a:t>жишээ асуулт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7" y="1188720"/>
            <a:ext cx="2331720" cy="1645920"/>
          </a:xfrm>
          <a:prstGeom prst="roundRect">
            <a:avLst>
              <a:gd name="adj" fmla="val 8000"/>
            </a:avLst>
          </a:prstGeom>
          <a:solidFill>
            <a:srgbClr val="201B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236207" y="1325880"/>
            <a:ext cx="233172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500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7" y="2194560"/>
            <a:ext cx="233172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Arial"/>
              </a:rPr>
              <a:t>үнэлгээний асуулт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42247" y="1188720"/>
            <a:ext cx="2331720" cy="1645920"/>
          </a:xfrm>
          <a:prstGeom prst="roundRect">
            <a:avLst>
              <a:gd name="adj" fmla="val 8000"/>
            </a:avLst>
          </a:prstGeom>
          <a:solidFill>
            <a:srgbClr val="EE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842247" y="1325880"/>
            <a:ext cx="233172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4400" b="1">
                <a:solidFill>
                  <a:srgbClr val="201B6D"/>
                </a:solidFill>
                <a:latin typeface="Arial"/>
              </a:rPr>
              <a:t>8 500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42247" y="2194560"/>
            <a:ext cx="233172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0">
                <a:solidFill>
                  <a:srgbClr val="4A5260"/>
                </a:solidFill>
                <a:latin typeface="Arial"/>
              </a:rPr>
              <a:t>орчуулгын жишээ</a:t>
            </a:r>
          </a:p>
        </p:txBody>
      </p:sp>
      <p:graphicFrame>
        <p:nvGraphicFramePr>
          <p:cNvPr id="19" name="Chart 18"/>
          <p:cNvGraphicFramePr>
            <a:graphicFrameLocks noGrp="1"/>
          </p:cNvGraphicFramePr>
          <p:nvPr/>
        </p:nvGraphicFramePr>
        <p:xfrm>
          <a:off x="1024128" y="3108960"/>
          <a:ext cx="10149840" cy="2377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1024128" y="5577840"/>
            <a:ext cx="101498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4A5260"/>
                </a:solidFill>
                <a:latin typeface="Arial"/>
              </a:rPr>
              <a:t>Бодит харилцагчийн мэдээлэл ашиглаагүй — синтетик өгөгдөл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solidFill>
                  <a:srgbClr val="201B6D"/>
                </a:solidFill>
                <a:latin typeface="Arial"/>
              </a:rPr>
              <a:t>Ашигласан загварууд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CE0E4E-491C-AFBC-452C-B48B7FE46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B7510-B4B2-405B-B3A2-5AC67E743C62}" type="datetime1">
              <a:rPr lang="en-US" smtClean="0" sz="2000">
                <a:latin typeface="Arial" panose="020B0604020202020204" pitchFamily="34" charset="0"/>
                <a:cs typeface="Arial" panose="020B0604020202020204" pitchFamily="34" charset="0"/>
              </a:rPr>
              <a:t>10/26/2026</a:t>
            </a:fld>
            <a:endParaRPr lang="en-US" dirty="0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446C08-9265-BB4F-9E7E-8DBA70441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 sz="2000">
                <a:latin typeface="Arial" panose="020B0604020202020204" pitchFamily="34" charset="0"/>
                <a:cs typeface="Arial" panose="020B0604020202020204" pitchFamily="34" charset="0"/>
              </a:rPr>
              <a:t>LLM-д суурилсан Text-to-SQL агент</a:t>
            </a:r>
            <a:endParaRPr lang="en-US" dirty="0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14F064-F04B-EAC2-8199-1DB1C98E6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FE9AF-92D8-4B74-B37C-7FC29F92965E}" type="slidenum">
              <a:rPr lang="en-US" smtClean="0" sz="2000">
                <a:latin typeface="Arial" panose="020B0604020202020204" pitchFamily="34" charset="0"/>
                <a:cs typeface="Arial" panose="020B0604020202020204" pitchFamily="34" charset="0"/>
              </a:rPr>
              <a:t>4</a:t>
            </a:fld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024128" y="1188720"/>
            <a:ext cx="3200400" cy="2651760"/>
          </a:xfrm>
          <a:prstGeom prst="roundRect">
            <a:avLst>
              <a:gd name="adj" fmla="val 8000"/>
            </a:avLst>
          </a:prstGeom>
          <a:solidFill>
            <a:srgbClr val="FDF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252728" y="1371600"/>
            <a:ext cx="27432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201B6D"/>
                </a:solidFill>
                <a:latin typeface="Arial"/>
              </a:rPr>
              <a:t>SQL бичих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52728" y="1965960"/>
            <a:ext cx="274320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1F232B"/>
                </a:solidFill>
                <a:latin typeface="Arial"/>
              </a:rPr>
              <a:t>Arctic-Text2SQL-R1-7B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52728" y="2926080"/>
            <a:ext cx="27432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4A5260"/>
                </a:solidFill>
                <a:latin typeface="Arial"/>
              </a:rPr>
              <a:t>нэмэлт сургасан (LoRA)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53128" y="1188720"/>
            <a:ext cx="3200400" cy="2651760"/>
          </a:xfrm>
          <a:prstGeom prst="roundRect">
            <a:avLst>
              <a:gd name="adj" fmla="val 8000"/>
            </a:avLst>
          </a:prstGeom>
          <a:solidFill>
            <a:srgbClr val="FDF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681728" y="1371600"/>
            <a:ext cx="27432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201B6D"/>
                </a:solidFill>
                <a:latin typeface="Arial"/>
              </a:rPr>
              <a:t>Орчуулах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1728" y="1965960"/>
            <a:ext cx="274320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1F232B"/>
                </a:solidFill>
                <a:latin typeface="Arial"/>
              </a:rPr>
              <a:t>MADLAD-400-3B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8" y="2926080"/>
            <a:ext cx="27432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4A5260"/>
                </a:solidFill>
                <a:latin typeface="Arial"/>
              </a:rPr>
              <a:t>санхүүгийн хэллэгээр сургасан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82128" y="1188720"/>
            <a:ext cx="3200400" cy="2651760"/>
          </a:xfrm>
          <a:prstGeom prst="roundRect">
            <a:avLst>
              <a:gd name="adj" fmla="val 8000"/>
            </a:avLst>
          </a:prstGeom>
          <a:solidFill>
            <a:srgbClr val="EE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110728" y="1371600"/>
            <a:ext cx="27432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201B6D"/>
                </a:solidFill>
                <a:latin typeface="Arial"/>
              </a:rPr>
              <a:t>Мэдлэг хайх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0728" y="1965960"/>
            <a:ext cx="274320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1F232B"/>
                </a:solidFill>
                <a:latin typeface="Arial"/>
              </a:rPr>
              <a:t>BM25 + BGE-M3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10728" y="2926080"/>
            <a:ext cx="27432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4A5260"/>
                </a:solidFill>
                <a:latin typeface="Arial"/>
              </a:rPr>
              <a:t>түлхүүр үг ба утгаар хайна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" y="4114800"/>
            <a:ext cx="101498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201B6D"/>
                </a:solidFill>
                <a:latin typeface="Arial"/>
              </a:rPr>
              <a:t>Үнэлгээ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24128" y="4617720"/>
            <a:ext cx="4937760" cy="1234440"/>
          </a:xfrm>
          <a:prstGeom prst="roundRect">
            <a:avLst>
              <a:gd name="adj" fmla="val 8000"/>
            </a:avLst>
          </a:prstGeom>
          <a:solidFill>
            <a:srgbClr val="EE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252728" y="4617720"/>
            <a:ext cx="1645920" cy="12344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201B6D"/>
                </a:solidFill>
                <a:latin typeface="Arial"/>
              </a:rPr>
              <a:t>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52928" y="4617720"/>
            <a:ext cx="2926080" cy="12344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1F232B"/>
                </a:solidFill>
                <a:latin typeface="Arial"/>
              </a:rPr>
              <a:t>SQL-ийн үр дүн зөв хариутай таарсан хувь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6208" y="4617720"/>
            <a:ext cx="4937760" cy="1234440"/>
          </a:xfrm>
          <a:prstGeom prst="roundRect">
            <a:avLst>
              <a:gd name="adj" fmla="val 8000"/>
            </a:avLst>
          </a:prstGeom>
          <a:solidFill>
            <a:srgbClr val="EE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464808" y="4617720"/>
            <a:ext cx="1645920" cy="12344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201B6D"/>
                </a:solidFill>
                <a:latin typeface="Arial"/>
              </a:rPr>
              <a:t>McNemar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65008" y="4617720"/>
            <a:ext cx="2926080" cy="12344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1F232B"/>
                </a:solidFill>
                <a:latin typeface="Arial"/>
              </a:rPr>
              <a:t>хоёр тохиргооны ялгаа санамсаргүй эсэх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solidFill>
                  <a:srgbClr val="201B6D"/>
                </a:solidFill>
                <a:latin typeface="Arial"/>
              </a:rPr>
              <a:t>Үр дүн: алхам бүр хэр нэмэр өгсөн бэ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CE0E4E-491C-AFBC-452C-B48B7FE46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B7510-B4B2-405B-B3A2-5AC67E743C62}" type="datetime1">
              <a:rPr lang="en-US" smtClean="0" sz="2000">
                <a:latin typeface="Arial" panose="020B0604020202020204" pitchFamily="34" charset="0"/>
                <a:cs typeface="Arial" panose="020B0604020202020204" pitchFamily="34" charset="0"/>
              </a:rPr>
              <a:t>10/26/2026</a:t>
            </a:fld>
            <a:endParaRPr lang="en-US" dirty="0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446C08-9265-BB4F-9E7E-8DBA70441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 sz="2000">
                <a:latin typeface="Arial" panose="020B0604020202020204" pitchFamily="34" charset="0"/>
                <a:cs typeface="Arial" panose="020B0604020202020204" pitchFamily="34" charset="0"/>
              </a:rPr>
              <a:t>LLM-д суурилсан Text-to-SQL агент</a:t>
            </a:r>
            <a:endParaRPr lang="en-US" dirty="0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14F064-F04B-EAC2-8199-1DB1C98E6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FE9AF-92D8-4B74-B37C-7FC29F92965E}" type="slidenum">
              <a:rPr lang="en-US" smtClean="0" sz="2000">
                <a:latin typeface="Arial" panose="020B0604020202020204" pitchFamily="34" charset="0"/>
                <a:cs typeface="Arial" panose="020B0604020202020204" pitchFamily="34" charset="0"/>
              </a:rPr>
              <a:t>4</a:t>
            </a:fld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932688" y="1097280"/>
          <a:ext cx="722376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024128" y="5486400"/>
            <a:ext cx="71323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4A5260"/>
                </a:solidFill>
                <a:latin typeface="Arial"/>
              </a:rPr>
              <a:t>Хөгжүүлэлтийн 300 асуулт, зөв хариултын хувь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30767" y="1188720"/>
            <a:ext cx="2743200" cy="4754880"/>
          </a:xfrm>
          <a:prstGeom prst="roundRect">
            <a:avLst>
              <a:gd name="adj" fmla="val 8000"/>
            </a:avLst>
          </a:prstGeom>
          <a:solidFill>
            <a:srgbClr val="EE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659367" y="1325880"/>
            <a:ext cx="22860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201B6D"/>
                </a:solidFill>
                <a:latin typeface="Arial"/>
              </a:rPr>
              <a:t>Их нэмэр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59367" y="1920240"/>
            <a:ext cx="228600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201B6D"/>
                </a:solidFill>
                <a:latin typeface="Arial"/>
              </a:rPr>
              <a:t>+12.0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59367" y="2606040"/>
            <a:ext cx="22860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1F232B"/>
                </a:solidFill>
                <a:latin typeface="Arial"/>
              </a:rPr>
              <a:t>мэдлэг хайлт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59367" y="3246120"/>
            <a:ext cx="228600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201B6D"/>
                </a:solidFill>
                <a:latin typeface="Arial"/>
              </a:rPr>
              <a:t>+11.3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59367" y="3931920"/>
            <a:ext cx="22860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1F232B"/>
                </a:solidFill>
                <a:latin typeface="Arial"/>
              </a:rPr>
              <a:t>англи хэл рүү орчуулга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59367" y="4572000"/>
            <a:ext cx="228600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4A5260"/>
                </a:solidFill>
                <a:latin typeface="Arial"/>
              </a:rPr>
              <a:t>+1.4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59367" y="5257800"/>
            <a:ext cx="22860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1F232B"/>
                </a:solidFill>
                <a:latin typeface="Arial"/>
              </a:rPr>
              <a:t>нэмэлт сургалт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solidFill>
                  <a:srgbClr val="201B6D"/>
                </a:solidFill>
                <a:latin typeface="Arial"/>
              </a:rPr>
              <a:t>Шинэ асуулт дээр: 21.0% → 46.5%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CE0E4E-491C-AFBC-452C-B48B7FE46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B7510-B4B2-405B-B3A2-5AC67E743C62}" type="datetime1">
              <a:rPr lang="en-US" smtClean="0" sz="2000">
                <a:latin typeface="Arial" panose="020B0604020202020204" pitchFamily="34" charset="0"/>
                <a:cs typeface="Arial" panose="020B0604020202020204" pitchFamily="34" charset="0"/>
              </a:rPr>
              <a:t>10/26/2026</a:t>
            </a:fld>
            <a:endParaRPr lang="en-US" dirty="0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446C08-9265-BB4F-9E7E-8DBA70441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 sz="2000">
                <a:latin typeface="Arial" panose="020B0604020202020204" pitchFamily="34" charset="0"/>
                <a:cs typeface="Arial" panose="020B0604020202020204" pitchFamily="34" charset="0"/>
              </a:rPr>
              <a:t>LLM-д суурилсан Text-to-SQL агент</a:t>
            </a:r>
            <a:endParaRPr lang="en-US" dirty="0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14F064-F04B-EAC2-8199-1DB1C98E6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FE9AF-92D8-4B74-B37C-7FC29F92965E}" type="slidenum">
              <a:rPr lang="en-US" smtClean="0" sz="2000">
                <a:latin typeface="Arial" panose="020B0604020202020204" pitchFamily="34" charset="0"/>
                <a:cs typeface="Arial" panose="020B0604020202020204" pitchFamily="34" charset="0"/>
              </a:rPr>
              <a:t>4</a:t>
            </a:fld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932688" y="1097280"/>
          <a:ext cx="6675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024128" y="5486400"/>
            <a:ext cx="65836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4A5260"/>
                </a:solidFill>
                <a:latin typeface="Arial"/>
              </a:rPr>
              <a:t>Шинэ 200 асуулт (test), зөв хариултын хувь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82128" y="1188720"/>
            <a:ext cx="3291839" cy="4754880"/>
          </a:xfrm>
          <a:prstGeom prst="roundRect">
            <a:avLst>
              <a:gd name="adj" fmla="val 8000"/>
            </a:avLst>
          </a:prstGeom>
          <a:solidFill>
            <a:srgbClr val="EE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110728" y="1325880"/>
            <a:ext cx="2834639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201B6D"/>
                </a:solidFill>
                <a:latin typeface="Arial"/>
              </a:rPr>
              <a:t>Ялгаа бодит уу?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10728" y="2011680"/>
            <a:ext cx="2834639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F232B"/>
                </a:solidFill>
                <a:latin typeface="Arial"/>
              </a:rPr>
              <a:t>+ Орчуулга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10728" y="2423160"/>
            <a:ext cx="2834639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1B7F3B"/>
                </a:solidFill>
                <a:latin typeface="Arial"/>
              </a:rPr>
              <a:t>p = 0.0009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10728" y="3063240"/>
            <a:ext cx="2834639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F232B"/>
                </a:solidFill>
                <a:latin typeface="Arial"/>
              </a:rPr>
              <a:t>+ Дүрэм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10728" y="3474720"/>
            <a:ext cx="2834639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1B7F3B"/>
                </a:solidFill>
                <a:latin typeface="Arial"/>
              </a:rPr>
              <a:t>p = 0.001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10728" y="4114800"/>
            <a:ext cx="2834639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F232B"/>
                </a:solidFill>
                <a:latin typeface="Arial"/>
              </a:rPr>
              <a:t>+ 8 хувилбар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10728" y="4526280"/>
            <a:ext cx="2834639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A86A00"/>
                </a:solidFill>
                <a:latin typeface="Arial"/>
              </a:rPr>
              <a:t>p = 0.12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0728" y="5166359"/>
            <a:ext cx="2834639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4A5260"/>
                </a:solidFill>
                <a:latin typeface="Arial"/>
              </a:rPr>
              <a:t>p &lt; 0.05 бол ялгаа санамсаргүй биш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solidFill>
                  <a:srgbClr val="201B6D"/>
                </a:solidFill>
                <a:latin typeface="Arial"/>
              </a:rPr>
              <a:t>Алдааны гол шалтгаан — орчуулга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CE0E4E-491C-AFBC-452C-B48B7FE46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B7510-B4B2-405B-B3A2-5AC67E743C62}" type="datetime1">
              <a:rPr lang="en-US" smtClean="0" sz="2000">
                <a:latin typeface="Arial" panose="020B0604020202020204" pitchFamily="34" charset="0"/>
                <a:cs typeface="Arial" panose="020B0604020202020204" pitchFamily="34" charset="0"/>
              </a:rPr>
              <a:t>10/26/2026</a:t>
            </a:fld>
            <a:endParaRPr lang="en-US" dirty="0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446C08-9265-BB4F-9E7E-8DBA70441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 sz="2000">
                <a:latin typeface="Arial" panose="020B0604020202020204" pitchFamily="34" charset="0"/>
                <a:cs typeface="Arial" panose="020B0604020202020204" pitchFamily="34" charset="0"/>
              </a:rPr>
              <a:t>LLM-д суурилсан Text-to-SQL агент</a:t>
            </a:r>
            <a:endParaRPr lang="en-US" dirty="0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14F064-F04B-EAC2-8199-1DB1C98E6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FE9AF-92D8-4B74-B37C-7FC29F92965E}" type="slidenum">
              <a:rPr lang="en-US" smtClean="0" sz="2000">
                <a:latin typeface="Arial" panose="020B0604020202020204" pitchFamily="34" charset="0"/>
                <a:cs typeface="Arial" panose="020B0604020202020204" pitchFamily="34" charset="0"/>
              </a:rPr>
              <a:t>4</a:t>
            </a:fld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1024128" y="1188720"/>
          <a:ext cx="420624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596128" y="1188720"/>
            <a:ext cx="55778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201B6D"/>
                </a:solidFill>
                <a:latin typeface="Arial"/>
              </a:rPr>
              <a:t>Жишээ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96128" y="1828800"/>
            <a:ext cx="5577840" cy="1234440"/>
          </a:xfrm>
          <a:prstGeom prst="roundRect">
            <a:avLst>
              <a:gd name="adj" fmla="val 8000"/>
            </a:avLst>
          </a:prstGeom>
          <a:solidFill>
            <a:srgbClr val="EE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824728" y="1920240"/>
            <a:ext cx="2560320" cy="1051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F232B"/>
                </a:solidFill>
                <a:latin typeface="Arial"/>
              </a:rPr>
              <a:t>«төгрөгийн»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30768" y="1920240"/>
            <a:ext cx="1371600" cy="1051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B42318"/>
                </a:solidFill>
                <a:latin typeface="Arial"/>
              </a:rPr>
              <a:t>✗ </a:t>
            </a:r>
            <a:r>
              <a:rPr sz="2000" b="0">
                <a:solidFill>
                  <a:srgbClr val="1F232B"/>
                </a:solidFill>
                <a:latin typeface="Arial"/>
              </a:rPr>
              <a:t>Tenge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10928" y="1920240"/>
            <a:ext cx="1463040" cy="1051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B7F3B"/>
                </a:solidFill>
                <a:latin typeface="Arial"/>
              </a:rPr>
              <a:t>✓ </a:t>
            </a:r>
            <a:r>
              <a:rPr sz="2000" b="0">
                <a:solidFill>
                  <a:srgbClr val="1F232B"/>
                </a:solidFill>
                <a:latin typeface="Arial"/>
              </a:rPr>
              <a:t>MNT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96128" y="3291840"/>
            <a:ext cx="5577840" cy="1234440"/>
          </a:xfrm>
          <a:prstGeom prst="roundRect">
            <a:avLst>
              <a:gd name="adj" fmla="val 8000"/>
            </a:avLst>
          </a:prstGeom>
          <a:solidFill>
            <a:srgbClr val="EE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824728" y="3383280"/>
            <a:ext cx="2560320" cy="1051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F232B"/>
                </a:solidFill>
                <a:latin typeface="Arial"/>
              </a:rPr>
              <a:t>«барагдаж хаагдсан»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30768" y="3383280"/>
            <a:ext cx="1371600" cy="1051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B42318"/>
                </a:solidFill>
                <a:latin typeface="Arial"/>
              </a:rPr>
              <a:t>✗ </a:t>
            </a:r>
            <a:r>
              <a:rPr sz="2000" b="0">
                <a:solidFill>
                  <a:srgbClr val="1F232B"/>
                </a:solidFill>
                <a:latin typeface="Arial"/>
              </a:rPr>
              <a:t>closed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10928" y="3383280"/>
            <a:ext cx="1463040" cy="1051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B7F3B"/>
                </a:solidFill>
                <a:latin typeface="Arial"/>
              </a:rPr>
              <a:t>✓ </a:t>
            </a:r>
            <a:r>
              <a:rPr sz="2000" b="0">
                <a:solidFill>
                  <a:srgbClr val="1F232B"/>
                </a:solidFill>
                <a:latin typeface="Arial"/>
              </a:rPr>
              <a:t>resolved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596128" y="4800600"/>
            <a:ext cx="5577840" cy="1097280"/>
          </a:xfrm>
          <a:prstGeom prst="roundRect">
            <a:avLst>
              <a:gd name="adj" fmla="val 8000"/>
            </a:avLst>
          </a:prstGeom>
          <a:solidFill>
            <a:srgbClr val="FDF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824728" y="4800600"/>
            <a:ext cx="5120640" cy="10972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201B6D"/>
                </a:solidFill>
                <a:latin typeface="Arial"/>
              </a:rPr>
              <a:t>Шийдвэр: орчуулагчийг санхүүгийн хэллэгээр нэмж сургах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solidFill>
                  <a:srgbClr val="201B6D"/>
                </a:solidFill>
                <a:latin typeface="Arial"/>
              </a:rPr>
              <a:t>Сургасан орчуулагч: 46.9% → 56.7%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CE0E4E-491C-AFBC-452C-B48B7FE46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B7510-B4B2-405B-B3A2-5AC67E743C62}" type="datetime1">
              <a:rPr lang="en-US" smtClean="0" sz="2000">
                <a:latin typeface="Arial" panose="020B0604020202020204" pitchFamily="34" charset="0"/>
                <a:cs typeface="Arial" panose="020B0604020202020204" pitchFamily="34" charset="0"/>
              </a:rPr>
              <a:t>10/26/2026</a:t>
            </a:fld>
            <a:endParaRPr lang="en-US" dirty="0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446C08-9265-BB4F-9E7E-8DBA70441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 sz="2000">
                <a:latin typeface="Arial" panose="020B0604020202020204" pitchFamily="34" charset="0"/>
                <a:cs typeface="Arial" panose="020B0604020202020204" pitchFamily="34" charset="0"/>
              </a:rPr>
              <a:t>LLM-д суурилсан Text-to-SQL агент</a:t>
            </a:r>
            <a:endParaRPr lang="en-US" dirty="0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14F064-F04B-EAC2-8199-1DB1C98E6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FE9AF-92D8-4B74-B37C-7FC29F92965E}" type="slidenum">
              <a:rPr lang="en-US" smtClean="0" sz="2000">
                <a:latin typeface="Arial" panose="020B0604020202020204" pitchFamily="34" charset="0"/>
                <a:cs typeface="Arial" panose="020B0604020202020204" pitchFamily="34" charset="0"/>
              </a:rPr>
              <a:t>4</a:t>
            </a:fld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024128" y="1188720"/>
            <a:ext cx="4937759" cy="3246120"/>
          </a:xfrm>
          <a:prstGeom prst="roundRect">
            <a:avLst>
              <a:gd name="adj" fmla="val 8000"/>
            </a:avLst>
          </a:prstGeom>
          <a:solidFill>
            <a:srgbClr val="EE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252728" y="1325880"/>
            <a:ext cx="4480559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201B6D"/>
                </a:solidFill>
                <a:latin typeface="Arial"/>
              </a:rPr>
              <a:t>Орчуулгын чанар (chrF++)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52728" y="2057400"/>
            <a:ext cx="224028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1F232B"/>
                </a:solidFill>
                <a:latin typeface="Arial"/>
              </a:rPr>
              <a:t>Qwen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84448" y="2121408"/>
            <a:ext cx="928115" cy="329184"/>
          </a:xfrm>
          <a:prstGeom prst="rect">
            <a:avLst/>
          </a:prstGeom>
          <a:solidFill>
            <a:srgbClr val="B8BC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604004" y="2057400"/>
            <a:ext cx="118872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1F232B"/>
                </a:solidFill>
                <a:latin typeface="Arial"/>
              </a:rPr>
              <a:t>58.0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52728" y="2788920"/>
            <a:ext cx="224028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1F232B"/>
                </a:solidFill>
                <a:latin typeface="Arial"/>
              </a:rPr>
              <a:t>MADLAD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84448" y="2852927"/>
            <a:ext cx="856106" cy="329184"/>
          </a:xfrm>
          <a:prstGeom prst="rect">
            <a:avLst/>
          </a:prstGeom>
          <a:solidFill>
            <a:srgbClr val="B8BC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531995" y="2788920"/>
            <a:ext cx="118872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1F232B"/>
                </a:solidFill>
                <a:latin typeface="Arial"/>
              </a:rPr>
              <a:t>53.5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52728" y="3520440"/>
            <a:ext cx="224028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1F232B"/>
                </a:solidFill>
                <a:latin typeface="Arial"/>
              </a:rPr>
              <a:t>MADLAD, сургасан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84448" y="3584448"/>
            <a:ext cx="1196949" cy="329184"/>
          </a:xfrm>
          <a:prstGeom prst="rect">
            <a:avLst/>
          </a:prstGeom>
          <a:solidFill>
            <a:srgbClr val="201B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872837" y="3520440"/>
            <a:ext cx="118872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1F232B"/>
                </a:solidFill>
                <a:latin typeface="Arial"/>
              </a:rPr>
              <a:t>74.8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6207" y="1188720"/>
            <a:ext cx="4937759" cy="3246120"/>
          </a:xfrm>
          <a:prstGeom prst="roundRect">
            <a:avLst>
              <a:gd name="adj" fmla="val 8000"/>
            </a:avLst>
          </a:prstGeom>
          <a:solidFill>
            <a:srgbClr val="EE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464807" y="1325880"/>
            <a:ext cx="4480559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201B6D"/>
                </a:solidFill>
                <a:latin typeface="Arial"/>
              </a:rPr>
              <a:t>Зөв хариулт (dev, 224)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4807" y="2057400"/>
            <a:ext cx="224028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1F232B"/>
                </a:solidFill>
                <a:latin typeface="Arial"/>
              </a:rPr>
              <a:t>Qwen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96528" y="2121408"/>
            <a:ext cx="1000658" cy="329184"/>
          </a:xfrm>
          <a:prstGeom prst="rect">
            <a:avLst/>
          </a:prstGeom>
          <a:solidFill>
            <a:srgbClr val="B8BC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888626" y="2057400"/>
            <a:ext cx="118872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1F232B"/>
                </a:solidFill>
                <a:latin typeface="Arial"/>
              </a:rPr>
              <a:t>46.9%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4807" y="2788920"/>
            <a:ext cx="224028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1F232B"/>
                </a:solidFill>
                <a:latin typeface="Arial"/>
              </a:rPr>
              <a:t>MADLAD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796528" y="2852927"/>
            <a:ext cx="772363" cy="329184"/>
          </a:xfrm>
          <a:prstGeom prst="rect">
            <a:avLst/>
          </a:prstGeom>
          <a:solidFill>
            <a:srgbClr val="B8BC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60331" y="2788920"/>
            <a:ext cx="118872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1F232B"/>
                </a:solidFill>
                <a:latin typeface="Arial"/>
              </a:rPr>
              <a:t>36.2%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64807" y="3520440"/>
            <a:ext cx="224028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1F232B"/>
                </a:solidFill>
                <a:latin typeface="Arial"/>
              </a:rPr>
              <a:t>MADLAD, сургасан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796528" y="3584448"/>
            <a:ext cx="1209751" cy="329184"/>
          </a:xfrm>
          <a:prstGeom prst="rect">
            <a:avLst/>
          </a:prstGeom>
          <a:solidFill>
            <a:srgbClr val="201B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10097719" y="3520440"/>
            <a:ext cx="118872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1F232B"/>
                </a:solidFill>
                <a:latin typeface="Arial"/>
              </a:rPr>
              <a:t>56.7%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24128" y="4709160"/>
            <a:ext cx="10149840" cy="1188720"/>
          </a:xfrm>
          <a:prstGeom prst="roundRect">
            <a:avLst>
              <a:gd name="adj" fmla="val 8000"/>
            </a:avLst>
          </a:prstGeom>
          <a:solidFill>
            <a:srgbClr val="FDF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252728" y="4709160"/>
            <a:ext cx="9692640" cy="1188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201B6D"/>
                </a:solidFill>
                <a:latin typeface="Arial"/>
              </a:rPr>
              <a:t>+22 асуулт зөв болсон. </a:t>
            </a:r>
            <a:r>
              <a:rPr sz="2000" b="0">
                <a:solidFill>
                  <a:srgbClr val="1F232B"/>
                </a:solidFill>
                <a:latin typeface="Arial"/>
              </a:rPr>
              <a:t>Хөгжүүлэлтийн асуулт дээрх дүн — шинэ асуулт дээр шалгаж байна.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solidFill>
                  <a:srgbClr val="201B6D"/>
                </a:solidFill>
                <a:latin typeface="Arial"/>
              </a:rPr>
              <a:t>Таамаглалын биелэлт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CE0E4E-491C-AFBC-452C-B48B7FE46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B7510-B4B2-405B-B3A2-5AC67E743C62}" type="datetime1">
              <a:rPr lang="en-US" smtClean="0" sz="2000">
                <a:latin typeface="Arial" panose="020B0604020202020204" pitchFamily="34" charset="0"/>
                <a:cs typeface="Arial" panose="020B0604020202020204" pitchFamily="34" charset="0"/>
              </a:rPr>
              <a:t>10/26/2026</a:t>
            </a:fld>
            <a:endParaRPr lang="en-US" dirty="0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446C08-9265-BB4F-9E7E-8DBA70441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 sz="2000">
                <a:latin typeface="Arial" panose="020B0604020202020204" pitchFamily="34" charset="0"/>
                <a:cs typeface="Arial" panose="020B0604020202020204" pitchFamily="34" charset="0"/>
              </a:rPr>
              <a:t>LLM-д суурилсан Text-to-SQL агент</a:t>
            </a:r>
            <a:endParaRPr lang="en-US" dirty="0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14F064-F04B-EAC2-8199-1DB1C98E6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FE9AF-92D8-4B74-B37C-7FC29F92965E}" type="slidenum">
              <a:rPr lang="en-US" smtClean="0" sz="2000">
                <a:latin typeface="Arial" panose="020B0604020202020204" pitchFamily="34" charset="0"/>
                <a:cs typeface="Arial" panose="020B0604020202020204" pitchFamily="34" charset="0"/>
              </a:rPr>
              <a:t>4</a:t>
            </a:fld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024128" y="1188720"/>
            <a:ext cx="10149840" cy="1005840"/>
          </a:xfrm>
          <a:prstGeom prst="roundRect">
            <a:avLst>
              <a:gd name="adj" fmla="val 8000"/>
            </a:avLst>
          </a:prstGeom>
          <a:solidFill>
            <a:srgbClr val="EE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1252728" y="1371600"/>
            <a:ext cx="914400" cy="640080"/>
          </a:xfrm>
          <a:prstGeom prst="roundRect">
            <a:avLst>
              <a:gd name="adj" fmla="val 8000"/>
            </a:avLst>
          </a:prstGeom>
          <a:solidFill>
            <a:srgbClr val="201B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H1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95728" y="1188720"/>
            <a:ext cx="6035040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1F232B"/>
                </a:solidFill>
                <a:latin typeface="Arial"/>
              </a:rPr>
              <a:t>Мэдлэг хайлт: +12.0 пункт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22207" y="1371600"/>
            <a:ext cx="2423160" cy="640080"/>
          </a:xfrm>
          <a:prstGeom prst="roundRect">
            <a:avLst>
              <a:gd name="adj" fmla="val 8000"/>
            </a:avLst>
          </a:prstGeom>
          <a:solidFill>
            <a:srgbClr val="1B7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Батлагдсан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377440"/>
            <a:ext cx="10149840" cy="1005840"/>
          </a:xfrm>
          <a:prstGeom prst="roundRect">
            <a:avLst>
              <a:gd name="adj" fmla="val 8000"/>
            </a:avLst>
          </a:prstGeom>
          <a:solidFill>
            <a:srgbClr val="EE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1252728" y="2560320"/>
            <a:ext cx="914400" cy="640080"/>
          </a:xfrm>
          <a:prstGeom prst="roundRect">
            <a:avLst>
              <a:gd name="adj" fmla="val 8000"/>
            </a:avLst>
          </a:prstGeom>
          <a:solidFill>
            <a:srgbClr val="201B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H2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95728" y="2377440"/>
            <a:ext cx="6035040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1F232B"/>
                </a:solidFill>
                <a:latin typeface="Arial"/>
              </a:rPr>
              <a:t>Англи хэл рүү орчуулга: +11.3 пункт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22207" y="2560320"/>
            <a:ext cx="2423160" cy="640080"/>
          </a:xfrm>
          <a:prstGeom prst="roundRect">
            <a:avLst>
              <a:gd name="adj" fmla="val 8000"/>
            </a:avLst>
          </a:prstGeom>
          <a:solidFill>
            <a:srgbClr val="1B7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Батлагдсан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4128" y="3566160"/>
            <a:ext cx="10149840" cy="1005840"/>
          </a:xfrm>
          <a:prstGeom prst="roundRect">
            <a:avLst>
              <a:gd name="adj" fmla="val 8000"/>
            </a:avLst>
          </a:prstGeom>
          <a:solidFill>
            <a:srgbClr val="EE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1252728" y="3749040"/>
            <a:ext cx="914400" cy="640080"/>
          </a:xfrm>
          <a:prstGeom prst="roundRect">
            <a:avLst>
              <a:gd name="adj" fmla="val 8000"/>
            </a:avLst>
          </a:prstGeom>
          <a:solidFill>
            <a:srgbClr val="201B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H3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95728" y="3566160"/>
            <a:ext cx="6035040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1F232B"/>
                </a:solidFill>
                <a:latin typeface="Arial"/>
              </a:rPr>
              <a:t>Нэмэлт сургалт: +1.4 пункт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22207" y="3749040"/>
            <a:ext cx="2423160" cy="640080"/>
          </a:xfrm>
          <a:prstGeom prst="roundRect">
            <a:avLst>
              <a:gd name="adj" fmla="val 8000"/>
            </a:avLst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Батлагдаагүй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24128" y="4754880"/>
            <a:ext cx="10149840" cy="1005840"/>
          </a:xfrm>
          <a:prstGeom prst="roundRect">
            <a:avLst>
              <a:gd name="adj" fmla="val 8000"/>
            </a:avLst>
          </a:prstGeom>
          <a:solidFill>
            <a:srgbClr val="EE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1252728" y="4937760"/>
            <a:ext cx="914400" cy="640080"/>
          </a:xfrm>
          <a:prstGeom prst="roundRect">
            <a:avLst>
              <a:gd name="adj" fmla="val 8000"/>
            </a:avLst>
          </a:prstGeom>
          <a:solidFill>
            <a:srgbClr val="201B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H4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95728" y="4754880"/>
            <a:ext cx="6035040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1F232B"/>
                </a:solidFill>
                <a:latin typeface="Arial"/>
              </a:rPr>
              <a:t>Санал хураалт: зөвхөн хариулах асуултад ахисан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22207" y="4937760"/>
            <a:ext cx="2423160" cy="640080"/>
          </a:xfrm>
          <a:prstGeom prst="roundRect">
            <a:avLst>
              <a:gd name="adj" fmla="val 8000"/>
            </a:avLst>
          </a:prstGeom>
          <a:solidFill>
            <a:srgbClr val="A8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Хэсэгчлэн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solidFill>
                  <a:srgbClr val="201B6D"/>
                </a:solidFill>
                <a:latin typeface="Arial"/>
              </a:rPr>
              <a:t>Text2SQL Studio — туршилтын систем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CE0E4E-491C-AFBC-452C-B48B7FE46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B7510-B4B2-405B-B3A2-5AC67E743C62}" type="datetime1">
              <a:rPr lang="en-US" smtClean="0" sz="2000">
                <a:latin typeface="Arial" panose="020B0604020202020204" pitchFamily="34" charset="0"/>
                <a:cs typeface="Arial" panose="020B0604020202020204" pitchFamily="34" charset="0"/>
              </a:rPr>
              <a:t>10/26/2026</a:t>
            </a:fld>
            <a:endParaRPr lang="en-US" dirty="0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446C08-9265-BB4F-9E7E-8DBA70441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 sz="2000">
                <a:latin typeface="Arial" panose="020B0604020202020204" pitchFamily="34" charset="0"/>
                <a:cs typeface="Arial" panose="020B0604020202020204" pitchFamily="34" charset="0"/>
              </a:rPr>
              <a:t>LLM-д суурилсан Text-to-SQL агент</a:t>
            </a:r>
            <a:endParaRPr lang="en-US" dirty="0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14F064-F04B-EAC2-8199-1DB1C98E6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FE9AF-92D8-4B74-B37C-7FC29F92965E}" type="slidenum">
              <a:rPr lang="en-US" smtClean="0" sz="2000">
                <a:latin typeface="Arial" panose="020B0604020202020204" pitchFamily="34" charset="0"/>
                <a:cs typeface="Arial" panose="020B0604020202020204" pitchFamily="34" charset="0"/>
              </a:rPr>
              <a:t>4</a:t>
            </a:fld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 descr="stud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1188720"/>
            <a:ext cx="7223760" cy="3884564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8567928" y="1280160"/>
            <a:ext cx="548640" cy="548640"/>
          </a:xfrm>
          <a:prstGeom prst="ellipse">
            <a:avLst/>
          </a:prstGeom>
          <a:solidFill>
            <a:srgbClr val="201B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53728" y="1188720"/>
            <a:ext cx="1920239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201B6D"/>
                </a:solidFill>
                <a:latin typeface="Arial"/>
              </a:rPr>
              <a:t>Хариулт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53728" y="1691640"/>
            <a:ext cx="192023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4A5260"/>
                </a:solidFill>
                <a:latin typeface="Arial"/>
              </a:rPr>
              <a:t>тоо ба SQL</a:t>
            </a:r>
          </a:p>
        </p:txBody>
      </p:sp>
      <p:sp>
        <p:nvSpPr>
          <p:cNvPr id="11" name="Oval 10"/>
          <p:cNvSpPr/>
          <p:nvPr/>
        </p:nvSpPr>
        <p:spPr>
          <a:xfrm>
            <a:off x="8567928" y="2606040"/>
            <a:ext cx="548640" cy="548640"/>
          </a:xfrm>
          <a:prstGeom prst="ellipse">
            <a:avLst/>
          </a:prstGeom>
          <a:solidFill>
            <a:srgbClr val="201B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53728" y="2514600"/>
            <a:ext cx="1920239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201B6D"/>
                </a:solidFill>
                <a:latin typeface="Arial"/>
              </a:rPr>
              <a:t>Мэдлэг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53728" y="3017520"/>
            <a:ext cx="192023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4A5260"/>
                </a:solidFill>
                <a:latin typeface="Arial"/>
              </a:rPr>
              <a:t>схем, жишээ</a:t>
            </a:r>
          </a:p>
        </p:txBody>
      </p:sp>
      <p:sp>
        <p:nvSpPr>
          <p:cNvPr id="14" name="Oval 13"/>
          <p:cNvSpPr/>
          <p:nvPr/>
        </p:nvSpPr>
        <p:spPr>
          <a:xfrm>
            <a:off x="8567928" y="3931920"/>
            <a:ext cx="548640" cy="548640"/>
          </a:xfrm>
          <a:prstGeom prst="ellipse">
            <a:avLst/>
          </a:prstGeom>
          <a:solidFill>
            <a:srgbClr val="201B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53728" y="3840480"/>
            <a:ext cx="1920239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201B6D"/>
                </a:solidFill>
                <a:latin typeface="Arial"/>
              </a:rPr>
              <a:t>Алхам бүр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53728" y="4343400"/>
            <a:ext cx="192023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4A5260"/>
                </a:solidFill>
                <a:latin typeface="Arial"/>
              </a:rPr>
              <a:t>хугацаа, алдаа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solidFill>
                  <a:srgbClr val="201B6D"/>
                </a:solidFill>
                <a:latin typeface="Arial"/>
              </a:rPr>
              <a:t>Дүгнэлт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CE0E4E-491C-AFBC-452C-B48B7FE46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B7510-B4B2-405B-B3A2-5AC67E743C62}" type="datetime1">
              <a:rPr lang="en-US" smtClean="0" sz="2000">
                <a:latin typeface="Arial" panose="020B0604020202020204" pitchFamily="34" charset="0"/>
                <a:cs typeface="Arial" panose="020B0604020202020204" pitchFamily="34" charset="0"/>
              </a:rPr>
              <a:t>10/26/2026</a:t>
            </a:fld>
            <a:endParaRPr lang="en-US" dirty="0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446C08-9265-BB4F-9E7E-8DBA70441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 sz="2000">
                <a:latin typeface="Arial" panose="020B0604020202020204" pitchFamily="34" charset="0"/>
                <a:cs typeface="Arial" panose="020B0604020202020204" pitchFamily="34" charset="0"/>
              </a:rPr>
              <a:t>LLM-д суурилсан Text-to-SQL агент</a:t>
            </a:r>
            <a:endParaRPr lang="en-US" dirty="0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14F064-F04B-EAC2-8199-1DB1C98E6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FE9AF-92D8-4B74-B37C-7FC29F92965E}" type="slidenum">
              <a:rPr lang="en-US" smtClean="0" sz="2000">
                <a:latin typeface="Arial" panose="020B0604020202020204" pitchFamily="34" charset="0"/>
                <a:cs typeface="Arial" panose="020B0604020202020204" pitchFamily="34" charset="0"/>
              </a:rPr>
              <a:t>4</a:t>
            </a:fld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024128" y="1188720"/>
            <a:ext cx="3200400" cy="2011680"/>
          </a:xfrm>
          <a:prstGeom prst="roundRect">
            <a:avLst>
              <a:gd name="adj" fmla="val 8000"/>
            </a:avLst>
          </a:prstGeom>
          <a:solidFill>
            <a:srgbClr val="201B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24128" y="1371600"/>
            <a:ext cx="32004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46.5%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8" y="2240280"/>
            <a:ext cx="283464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Arial"/>
              </a:rPr>
              <a:t>шинэ асуултын зөв хариулт (21.0%-иас)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98848" y="1188720"/>
            <a:ext cx="3200400" cy="2011680"/>
          </a:xfrm>
          <a:prstGeom prst="roundRect">
            <a:avLst>
              <a:gd name="adj" fmla="val 8000"/>
            </a:avLst>
          </a:prstGeom>
          <a:solidFill>
            <a:srgbClr val="EE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498848" y="1371600"/>
            <a:ext cx="32004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4400" b="1">
                <a:solidFill>
                  <a:srgbClr val="201B6D"/>
                </a:solidFill>
                <a:latin typeface="Arial"/>
              </a:rPr>
              <a:t>+12 / +11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1728" y="2240280"/>
            <a:ext cx="283464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0">
                <a:solidFill>
                  <a:srgbClr val="4A5260"/>
                </a:solidFill>
                <a:latin typeface="Arial"/>
              </a:rPr>
              <a:t>мэдлэг хайлт ба орчуулгын нэмэр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73567" y="1188720"/>
            <a:ext cx="3200400" cy="2011680"/>
          </a:xfrm>
          <a:prstGeom prst="roundRect">
            <a:avLst>
              <a:gd name="adj" fmla="val 8000"/>
            </a:avLst>
          </a:prstGeom>
          <a:solidFill>
            <a:srgbClr val="EE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973567" y="1371600"/>
            <a:ext cx="32004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4400" b="1">
                <a:solidFill>
                  <a:srgbClr val="201B6D"/>
                </a:solidFill>
                <a:latin typeface="Arial"/>
              </a:rPr>
              <a:t>74.8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56447" y="2240280"/>
            <a:ext cx="283464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0">
                <a:solidFill>
                  <a:srgbClr val="4A5260"/>
                </a:solidFill>
                <a:latin typeface="Arial"/>
              </a:rPr>
              <a:t>сургасан орчуулагчийн оноо (58.0-аас)</a:t>
            </a:r>
          </a:p>
        </p:txBody>
      </p:sp>
      <p:sp>
        <p:nvSpPr>
          <p:cNvPr id="16" name="Oval 15"/>
          <p:cNvSpPr/>
          <p:nvPr/>
        </p:nvSpPr>
        <p:spPr>
          <a:xfrm>
            <a:off x="1024128" y="3593591"/>
            <a:ext cx="502920" cy="502920"/>
          </a:xfrm>
          <a:prstGeom prst="ellipse">
            <a:avLst/>
          </a:prstGeom>
          <a:solidFill>
            <a:srgbClr val="F2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2000" b="1">
                <a:solidFill>
                  <a:srgbClr val="201B6D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55648" y="3520439"/>
            <a:ext cx="9418319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1F232B"/>
                </a:solidFill>
                <a:latin typeface="Arial"/>
              </a:rPr>
              <a:t>Монгол хэлний Text2SQL-ийн 500 асуултын үнэлгээний сан</a:t>
            </a:r>
          </a:p>
        </p:txBody>
      </p:sp>
      <p:sp>
        <p:nvSpPr>
          <p:cNvPr id="18" name="Oval 17"/>
          <p:cNvSpPr/>
          <p:nvPr/>
        </p:nvSpPr>
        <p:spPr>
          <a:xfrm>
            <a:off x="1024128" y="4370831"/>
            <a:ext cx="502920" cy="502920"/>
          </a:xfrm>
          <a:prstGeom prst="ellipse">
            <a:avLst/>
          </a:prstGeom>
          <a:solidFill>
            <a:srgbClr val="F2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2000" b="1">
                <a:solidFill>
                  <a:srgbClr val="201B6D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55648" y="4297679"/>
            <a:ext cx="9418319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1F232B"/>
                </a:solidFill>
                <a:latin typeface="Arial"/>
              </a:rPr>
              <a:t>Нөлөө бүрийг статистикаар хэмжсэн: мэдлэг хайлт, орчуулга хамгийн чухал</a:t>
            </a:r>
          </a:p>
        </p:txBody>
      </p:sp>
      <p:sp>
        <p:nvSpPr>
          <p:cNvPr id="20" name="Oval 19"/>
          <p:cNvSpPr/>
          <p:nvPr/>
        </p:nvSpPr>
        <p:spPr>
          <a:xfrm>
            <a:off x="1024128" y="5148072"/>
            <a:ext cx="502920" cy="502920"/>
          </a:xfrm>
          <a:prstGeom prst="ellipse">
            <a:avLst/>
          </a:prstGeom>
          <a:solidFill>
            <a:srgbClr val="F2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2000" b="1">
                <a:solidFill>
                  <a:srgbClr val="201B6D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55648" y="5074920"/>
            <a:ext cx="9418319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1F232B"/>
                </a:solidFill>
                <a:latin typeface="Arial"/>
              </a:rPr>
              <a:t>Санхүүгийн хэллэгт сургасан орчуулагч ба туршилтын систем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solidFill>
                  <a:srgbClr val="201B6D"/>
                </a:solidFill>
                <a:latin typeface="Arial"/>
              </a:rPr>
              <a:t>Цаашдын ажил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CE0E4E-491C-AFBC-452C-B48B7FE46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B7510-B4B2-405B-B3A2-5AC67E743C62}" type="datetime1">
              <a:rPr lang="en-US" smtClean="0" sz="2000">
                <a:latin typeface="Arial" panose="020B0604020202020204" pitchFamily="34" charset="0"/>
                <a:cs typeface="Arial" panose="020B0604020202020204" pitchFamily="34" charset="0"/>
              </a:rPr>
              <a:t>10/26/2026</a:t>
            </a:fld>
            <a:endParaRPr lang="en-US" dirty="0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446C08-9265-BB4F-9E7E-8DBA70441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 sz="2000">
                <a:latin typeface="Arial" panose="020B0604020202020204" pitchFamily="34" charset="0"/>
                <a:cs typeface="Arial" panose="020B0604020202020204" pitchFamily="34" charset="0"/>
              </a:rPr>
              <a:t>LLM-д суурилсан Text-to-SQL агент</a:t>
            </a:r>
            <a:endParaRPr lang="en-US" dirty="0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14F064-F04B-EAC2-8199-1DB1C98E6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FE9AF-92D8-4B74-B37C-7FC29F92965E}" type="slidenum">
              <a:rPr lang="en-US" smtClean="0" sz="2000">
                <a:latin typeface="Arial" panose="020B0604020202020204" pitchFamily="34" charset="0"/>
                <a:cs typeface="Arial" panose="020B0604020202020204" pitchFamily="34" charset="0"/>
              </a:rPr>
              <a:t>4</a:t>
            </a:fld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024128" y="1188720"/>
            <a:ext cx="10149840" cy="1005840"/>
          </a:xfrm>
          <a:prstGeom prst="roundRect">
            <a:avLst>
              <a:gd name="adj" fmla="val 8000"/>
            </a:avLst>
          </a:prstGeom>
          <a:solidFill>
            <a:srgbClr val="FDF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1252728" y="1371600"/>
            <a:ext cx="640080" cy="640080"/>
          </a:xfrm>
          <a:prstGeom prst="ellipse">
            <a:avLst/>
          </a:prstGeom>
          <a:solidFill>
            <a:srgbClr val="201B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21408" y="1188720"/>
            <a:ext cx="4389120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201B6D"/>
                </a:solidFill>
                <a:latin typeface="Arial"/>
              </a:rPr>
              <a:t>Шинэ асуулт дээр батлах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1968" y="1188720"/>
            <a:ext cx="4389120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1F232B"/>
                </a:solidFill>
                <a:latin typeface="Arial"/>
              </a:rPr>
              <a:t>сургасан орчуулагчийн үр дүнг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377440"/>
            <a:ext cx="10149840" cy="1005840"/>
          </a:xfrm>
          <a:prstGeom prst="roundRect">
            <a:avLst>
              <a:gd name="adj" fmla="val 8000"/>
            </a:avLst>
          </a:prstGeom>
          <a:solidFill>
            <a:srgbClr val="EE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1252728" y="2560320"/>
            <a:ext cx="640080" cy="640080"/>
          </a:xfrm>
          <a:prstGeom prst="ellipse">
            <a:avLst/>
          </a:prstGeom>
          <a:solidFill>
            <a:srgbClr val="201B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21408" y="2377440"/>
            <a:ext cx="4389120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201B6D"/>
                </a:solidFill>
                <a:latin typeface="Arial"/>
              </a:rPr>
              <a:t>Утгыг хадгалах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1968" y="2377440"/>
            <a:ext cx="4389120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1F232B"/>
                </a:solidFill>
                <a:latin typeface="Arial"/>
              </a:rPr>
              <a:t>салбар, кодыг орчуулгад алдахгүй байх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4128" y="3566160"/>
            <a:ext cx="10149840" cy="1005840"/>
          </a:xfrm>
          <a:prstGeom prst="roundRect">
            <a:avLst>
              <a:gd name="adj" fmla="val 8000"/>
            </a:avLst>
          </a:prstGeom>
          <a:solidFill>
            <a:srgbClr val="EE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1252728" y="3749040"/>
            <a:ext cx="640080" cy="640080"/>
          </a:xfrm>
          <a:prstGeom prst="ellipse">
            <a:avLst/>
          </a:prstGeom>
          <a:solidFill>
            <a:srgbClr val="201B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21408" y="3566160"/>
            <a:ext cx="4389120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201B6D"/>
                </a:solidFill>
                <a:latin typeface="Arial"/>
              </a:rPr>
              <a:t>Өөрийн өгөгдлөөр сургах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1968" y="3566160"/>
            <a:ext cx="4389120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1F232B"/>
                </a:solidFill>
                <a:latin typeface="Arial"/>
              </a:rPr>
              <a:t>схем өөрчлөгдөхөд тогтвортой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24128" y="4754880"/>
            <a:ext cx="10149840" cy="1005840"/>
          </a:xfrm>
          <a:prstGeom prst="roundRect">
            <a:avLst>
              <a:gd name="adj" fmla="val 8000"/>
            </a:avLst>
          </a:prstGeom>
          <a:solidFill>
            <a:srgbClr val="EE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1252728" y="4937760"/>
            <a:ext cx="640080" cy="640080"/>
          </a:xfrm>
          <a:prstGeom prst="ellipse">
            <a:avLst/>
          </a:prstGeom>
          <a:solidFill>
            <a:srgbClr val="201B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21408" y="4754880"/>
            <a:ext cx="4389120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201B6D"/>
                </a:solidFill>
                <a:latin typeface="Arial"/>
              </a:rPr>
              <a:t>Бодит орчинд турших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4754880"/>
            <a:ext cx="4389120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1F232B"/>
                </a:solidFill>
                <a:latin typeface="Arial"/>
              </a:rPr>
              <a:t>хамгаалалттай хуулбар DB дээр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solidFill>
                  <a:srgbClr val="201B6D"/>
                </a:solidFill>
                <a:latin typeface="Arial"/>
              </a:rPr>
              <a:t>Гол эх сурвалжууд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CE0E4E-491C-AFBC-452C-B48B7FE46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B7510-B4B2-405B-B3A2-5AC67E743C62}" type="datetime1">
              <a:rPr lang="en-US" smtClean="0" sz="2000">
                <a:latin typeface="Arial" panose="020B0604020202020204" pitchFamily="34" charset="0"/>
                <a:cs typeface="Arial" panose="020B0604020202020204" pitchFamily="34" charset="0"/>
              </a:rPr>
              <a:t>10/26/2026</a:t>
            </a:fld>
            <a:endParaRPr lang="en-US" dirty="0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446C08-9265-BB4F-9E7E-8DBA70441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 sz="2000">
                <a:latin typeface="Arial" panose="020B0604020202020204" pitchFamily="34" charset="0"/>
                <a:cs typeface="Arial" panose="020B0604020202020204" pitchFamily="34" charset="0"/>
              </a:rPr>
              <a:t>LLM-д суурилсан Text-to-SQL агент</a:t>
            </a:r>
            <a:endParaRPr lang="en-US" dirty="0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14F064-F04B-EAC2-8199-1DB1C98E6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FE9AF-92D8-4B74-B37C-7FC29F92965E}" type="slidenum">
              <a:rPr lang="en-US" smtClean="0" sz="2000">
                <a:latin typeface="Arial" panose="020B0604020202020204" pitchFamily="34" charset="0"/>
                <a:cs typeface="Arial" panose="020B0604020202020204" pitchFamily="34" charset="0"/>
              </a:rPr>
              <a:t>4</a:t>
            </a:fld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24128" y="1188720"/>
            <a:ext cx="10149840" cy="4754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1">
                <a:solidFill>
                  <a:srgbClr val="201B6D"/>
                </a:solidFill>
                <a:latin typeface="Arial"/>
              </a:rPr>
              <a:t>[1]  </a:t>
            </a:r>
            <a:r>
              <a:rPr sz="2000" b="0">
                <a:solidFill>
                  <a:srgbClr val="1F232B"/>
                </a:solidFill>
                <a:latin typeface="Arial"/>
              </a:rPr>
              <a:t>Yao нар, 2025 — Arctic-Text2SQL-R1 (SQL бичих загвар)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01B6D"/>
                </a:solidFill>
                <a:latin typeface="Arial"/>
              </a:rPr>
              <a:t>[2]  </a:t>
            </a:r>
            <a:r>
              <a:rPr sz="2000" b="0">
                <a:solidFill>
                  <a:srgbClr val="1F232B"/>
                </a:solidFill>
                <a:latin typeface="Arial"/>
              </a:rPr>
              <a:t>Li нар, 2023 — BIRD (Text-to-SQL үнэлгээ)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01B6D"/>
                </a:solidFill>
                <a:latin typeface="Arial"/>
              </a:rPr>
              <a:t>[3]  </a:t>
            </a:r>
            <a:r>
              <a:rPr sz="2000" b="0">
                <a:solidFill>
                  <a:srgbClr val="1F232B"/>
                </a:solidFill>
                <a:latin typeface="Arial"/>
              </a:rPr>
              <a:t>Gao нар, 2024 — DAIL-SQL (жишээгээр заах)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01B6D"/>
                </a:solidFill>
                <a:latin typeface="Arial"/>
              </a:rPr>
              <a:t>[4]  </a:t>
            </a:r>
            <a:r>
              <a:rPr sz="2000" b="0">
                <a:solidFill>
                  <a:srgbClr val="1F232B"/>
                </a:solidFill>
                <a:latin typeface="Arial"/>
              </a:rPr>
              <a:t>Hu нар, 2022 — LoRA (нэмэлт сургалт)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01B6D"/>
                </a:solidFill>
                <a:latin typeface="Arial"/>
              </a:rPr>
              <a:t>[5]  </a:t>
            </a:r>
            <a:r>
              <a:rPr sz="2000" b="0">
                <a:solidFill>
                  <a:srgbClr val="1F232B"/>
                </a:solidFill>
                <a:latin typeface="Arial"/>
              </a:rPr>
              <a:t>Dettmers нар, 2023 — QLoRA (4-bit сургалт)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01B6D"/>
                </a:solidFill>
                <a:latin typeface="Arial"/>
              </a:rPr>
              <a:t>[6]  </a:t>
            </a:r>
            <a:r>
              <a:rPr sz="2000" b="0">
                <a:solidFill>
                  <a:srgbClr val="1F232B"/>
                </a:solidFill>
                <a:latin typeface="Arial"/>
              </a:rPr>
              <a:t>Kudugunta нар, 2023 — MADLAD-400 (орчуулга)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UST_ELE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chelor-report-template" id="{F75ED08E-0DA4-45CE-BBA7-BEA4BFC133B2}" vid="{DA1B3DD6-C270-40C9-A20A-5FAD6E16ED0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191</TotalTime>
  <Words>222</Words>
  <Application>Microsoft Office PowerPoint</Application>
  <PresentationFormat>Widescreen</PresentationFormat>
  <Paragraphs>68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Montserrat</vt:lpstr>
      <vt:lpstr>Wingdings</vt:lpstr>
      <vt:lpstr>MUST_ELEC</vt:lpstr>
      <vt:lpstr>Үзүүлэнгийн хөл (footer) тохируулах</vt:lpstr>
      <vt:lpstr>Төгсөлтийн ажлын монгол нэр </vt:lpstr>
      <vt:lpstr>Агуулга</vt:lpstr>
      <vt:lpstr>Удиртгал</vt:lpstr>
      <vt:lpstr>Ижил төстэй системийн харьцуулсан судалгаа</vt:lpstr>
      <vt:lpstr>Архитектур, загвар</vt:lpstr>
      <vt:lpstr>Ашигласан материалууд</vt:lpstr>
      <vt:lpstr>Цаашид хийгдэх ажлууд</vt:lpstr>
      <vt:lpstr>PowerPoint Presentation</vt:lpstr>
      <vt:lpstr>Судалгааны ажлын хүрээнд хийгдсэн    эрдэм шинжилгээний бүтээлүүд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Sugir Tsagaanchuluun</dc:creator>
  <cp:lastModifiedBy>Daarimaa Chuluunbaatar</cp:lastModifiedBy>
  <cp:revision>7</cp:revision>
  <dcterms:created xsi:type="dcterms:W3CDTF">2025-11-07T07:33:54Z</dcterms:created>
  <dcterms:modified xsi:type="dcterms:W3CDTF">2026-10-26T09:47:44Z</dcterms:modified>
</cp:coreProperties>
</file>